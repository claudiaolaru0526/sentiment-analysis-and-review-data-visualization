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73" r:id="rId9"/>
    <p:sldId id="274" r:id="rId10"/>
    <p:sldId id="275" r:id="rId11"/>
    <p:sldId id="276" r:id="rId12"/>
    <p:sldId id="277" r:id="rId13"/>
    <p:sldId id="280" r:id="rId14"/>
    <p:sldId id="278" r:id="rId15"/>
    <p:sldId id="279" r:id="rId16"/>
    <p:sldId id="281" r:id="rId17"/>
    <p:sldId id="271" r:id="rId18"/>
  </p:sldIdLst>
  <p:sldSz cx="18288000" cy="10287000"/>
  <p:notesSz cx="6858000" cy="9144000"/>
  <p:embeddedFontLst>
    <p:embeddedFont>
      <p:font typeface="A Day Without Sun Text Bold" panose="020B0604020202020204" charset="0"/>
      <p:regular r:id="rId20"/>
    </p:embeddedFont>
    <p:embeddedFont>
      <p:font typeface="Ballpoint" panose="020B0604020202020204" charset="0"/>
      <p:regular r:id="rId21"/>
    </p:embeddedFont>
    <p:embeddedFont>
      <p:font typeface="Dekko" panose="020B0604020202020204" charset="-18"/>
      <p:regular r:id="rId22"/>
    </p:embeddedFont>
    <p:embeddedFont>
      <p:font typeface="Itim" panose="020B0604020202020204" charset="-34"/>
      <p:regular r:id="rId23"/>
    </p:embeddedFont>
    <p:embeddedFont>
      <p:font typeface="Childos Arabic" panose="020B0604020202020204" charset="-78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80" autoAdjust="0"/>
    <p:restoredTop sz="86436" autoAdjust="0"/>
  </p:normalViewPr>
  <p:slideViewPr>
    <p:cSldViewPr>
      <p:cViewPr varScale="1">
        <p:scale>
          <a:sx n="39" d="100"/>
          <a:sy n="39" d="100"/>
        </p:scale>
        <p:origin x="1244" y="60"/>
      </p:cViewPr>
      <p:guideLst>
        <p:guide orient="horz" pos="2160"/>
        <p:guide pos="2880"/>
      </p:guideLst>
    </p:cSldViewPr>
  </p:slideViewPr>
  <p:outlineViewPr>
    <p:cViewPr>
      <p:scale>
        <a:sx n="50" d="100"/>
        <a:sy n="50" d="100"/>
      </p:scale>
      <p:origin x="0" y="-83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E8D302-7DB3-4B3B-8207-1957857DF163}" type="datetimeFigureOut">
              <a:rPr lang="ro-RO" smtClean="0"/>
              <a:t>14.01.2025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C1B6A-9DDC-4CD9-A639-D7521FA4E38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38209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BC1B6A-9DDC-4CD9-A639-D7521FA4E38D}" type="slidenum">
              <a:rPr lang="ro-RO" smtClean="0"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37783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BC1B6A-9DDC-4CD9-A639-D7521FA4E38D}" type="slidenum">
              <a:rPr lang="ro-RO" smtClean="0"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21802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BC1B6A-9DDC-4CD9-A639-D7521FA4E38D}" type="slidenum">
              <a:rPr lang="ro-RO" smtClean="0"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78128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BC1B6A-9DDC-4CD9-A639-D7521FA4E38D}" type="slidenum">
              <a:rPr lang="ro-RO" smtClean="0"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31661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BC1B6A-9DDC-4CD9-A639-D7521FA4E38D}" type="slidenum">
              <a:rPr lang="ro-RO" smtClean="0"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62441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BC1B6A-9DDC-4CD9-A639-D7521FA4E38D}" type="slidenum">
              <a:rPr lang="ro-RO" smtClean="0"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45277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8" Type="http://schemas.openxmlformats.org/officeDocument/2006/relationships/image" Target="../media/image28.svg"/><Relationship Id="rId18" Type="http://schemas.openxmlformats.org/officeDocument/2006/relationships/image" Target="../media/image22.png"/><Relationship Id="rId3" Type="http://schemas.openxmlformats.org/officeDocument/2006/relationships/image" Target="../media/image15.png"/><Relationship Id="rId12" Type="http://schemas.openxmlformats.org/officeDocument/2006/relationships/image" Target="../media/image32.svg"/><Relationship Id="rId17" Type="http://schemas.openxmlformats.org/officeDocument/2006/relationships/image" Target="../media/image21.png"/><Relationship Id="rId2" Type="http://schemas.openxmlformats.org/officeDocument/2006/relationships/image" Target="../media/image1.jpeg"/><Relationship Id="rId16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15" Type="http://schemas.openxmlformats.org/officeDocument/2006/relationships/image" Target="../media/image19.jpeg"/><Relationship Id="rId10" Type="http://schemas.openxmlformats.org/officeDocument/2006/relationships/image" Target="../media/image30.svg"/><Relationship Id="rId4" Type="http://schemas.openxmlformats.org/officeDocument/2006/relationships/image" Target="../media/image16.pn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jpeg"/><Relationship Id="rId3" Type="http://schemas.openxmlformats.org/officeDocument/2006/relationships/image" Target="../media/image23.png"/><Relationship Id="rId12" Type="http://schemas.openxmlformats.org/officeDocument/2006/relationships/image" Target="../media/image26.jpeg"/><Relationship Id="rId2" Type="http://schemas.openxmlformats.org/officeDocument/2006/relationships/image" Target="../media/image1.jpeg"/><Relationship Id="rId16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38.svg"/><Relationship Id="rId5" Type="http://schemas.openxmlformats.org/officeDocument/2006/relationships/image" Target="../media/image11.png"/><Relationship Id="rId15" Type="http://schemas.openxmlformats.org/officeDocument/2006/relationships/image" Target="../media/image28.jpeg"/><Relationship Id="rId10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18.sv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3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5" Type="http://schemas.openxmlformats.org/officeDocument/2006/relationships/image" Target="../media/image30.png"/><Relationship Id="rId10" Type="http://schemas.openxmlformats.org/officeDocument/2006/relationships/image" Target="../media/image42.svg"/><Relationship Id="rId4" Type="http://schemas.openxmlformats.org/officeDocument/2006/relationships/image" Target="../media/image24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3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5" Type="http://schemas.openxmlformats.org/officeDocument/2006/relationships/image" Target="../media/image30.png"/><Relationship Id="rId10" Type="http://schemas.openxmlformats.org/officeDocument/2006/relationships/image" Target="../media/image42.svg"/><Relationship Id="rId4" Type="http://schemas.openxmlformats.org/officeDocument/2006/relationships/image" Target="../media/image24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3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5" Type="http://schemas.openxmlformats.org/officeDocument/2006/relationships/image" Target="../media/image30.png"/><Relationship Id="rId10" Type="http://schemas.openxmlformats.org/officeDocument/2006/relationships/image" Target="../media/image42.svg"/><Relationship Id="rId4" Type="http://schemas.openxmlformats.org/officeDocument/2006/relationships/image" Target="../media/image24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42.svg"/><Relationship Id="rId5" Type="http://schemas.openxmlformats.org/officeDocument/2006/relationships/image" Target="../media/image24.png"/><Relationship Id="rId10" Type="http://schemas.openxmlformats.org/officeDocument/2006/relationships/image" Target="../media/image31.png"/><Relationship Id="rId4" Type="http://schemas.openxmlformats.org/officeDocument/2006/relationships/image" Target="../media/image23.png"/><Relationship Id="rId9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42.svg"/><Relationship Id="rId5" Type="http://schemas.openxmlformats.org/officeDocument/2006/relationships/image" Target="../media/image24.png"/><Relationship Id="rId10" Type="http://schemas.openxmlformats.org/officeDocument/2006/relationships/image" Target="../media/image31.png"/><Relationship Id="rId4" Type="http://schemas.openxmlformats.org/officeDocument/2006/relationships/image" Target="../media/image23.png"/><Relationship Id="rId9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40.svg"/><Relationship Id="rId12" Type="http://schemas.openxmlformats.org/officeDocument/2006/relationships/image" Target="../media/image3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42.svg"/><Relationship Id="rId5" Type="http://schemas.openxmlformats.org/officeDocument/2006/relationships/image" Target="../media/image24.png"/><Relationship Id="rId10" Type="http://schemas.openxmlformats.org/officeDocument/2006/relationships/image" Target="../media/image31.png"/><Relationship Id="rId4" Type="http://schemas.openxmlformats.org/officeDocument/2006/relationships/image" Target="../media/image23.png"/><Relationship Id="rId9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42.svg"/><Relationship Id="rId5" Type="http://schemas.openxmlformats.org/officeDocument/2006/relationships/image" Target="../media/image24.png"/><Relationship Id="rId10" Type="http://schemas.openxmlformats.org/officeDocument/2006/relationships/image" Target="../media/image31.png"/><Relationship Id="rId4" Type="http://schemas.openxmlformats.org/officeDocument/2006/relationships/image" Target="../media/image23.png"/><Relationship Id="rId9" Type="http://schemas.openxmlformats.org/officeDocument/2006/relationships/image" Target="../media/image1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40.svg"/><Relationship Id="rId12" Type="http://schemas.openxmlformats.org/officeDocument/2006/relationships/image" Target="../media/image3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42.svg"/><Relationship Id="rId5" Type="http://schemas.openxmlformats.org/officeDocument/2006/relationships/image" Target="../media/image24.png"/><Relationship Id="rId10" Type="http://schemas.openxmlformats.org/officeDocument/2006/relationships/image" Target="../media/image31.png"/><Relationship Id="rId4" Type="http://schemas.openxmlformats.org/officeDocument/2006/relationships/image" Target="../media/image23.png"/><Relationship Id="rId9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40.svg"/><Relationship Id="rId12" Type="http://schemas.openxmlformats.org/officeDocument/2006/relationships/image" Target="../media/image3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42.svg"/><Relationship Id="rId5" Type="http://schemas.openxmlformats.org/officeDocument/2006/relationships/image" Target="../media/image24.png"/><Relationship Id="rId10" Type="http://schemas.openxmlformats.org/officeDocument/2006/relationships/image" Target="../media/image31.png"/><Relationship Id="rId4" Type="http://schemas.openxmlformats.org/officeDocument/2006/relationships/image" Target="../media/image23.png"/><Relationship Id="rId9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11" Type="http://schemas.openxmlformats.org/officeDocument/2006/relationships/image" Target="../media/image38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38.svg"/><Relationship Id="rId3" Type="http://schemas.openxmlformats.org/officeDocument/2006/relationships/image" Target="../media/image35.png"/><Relationship Id="rId7" Type="http://schemas.openxmlformats.org/officeDocument/2006/relationships/image" Target="../media/image9.png"/><Relationship Id="rId12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blog.robofun.ro/" TargetMode="External"/><Relationship Id="rId11" Type="http://schemas.openxmlformats.org/officeDocument/2006/relationships/image" Target="../media/image30.svg"/><Relationship Id="rId5" Type="http://schemas.openxmlformats.org/officeDocument/2006/relationships/hyperlink" Target="http://www.noobz.ro/" TargetMode="External"/><Relationship Id="rId10" Type="http://schemas.openxmlformats.org/officeDocument/2006/relationships/image" Target="../media/image22.png"/><Relationship Id="rId4" Type="http://schemas.openxmlformats.org/officeDocument/2006/relationships/hyperlink" Target="http://www.canva.com/" TargetMode="External"/><Relationship Id="rId9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 rot="5976154">
            <a:off x="3179887" y="-2087389"/>
            <a:ext cx="11386258" cy="14461778"/>
          </a:xfrm>
          <a:custGeom>
            <a:avLst/>
            <a:gdLst/>
            <a:ahLst/>
            <a:cxnLst/>
            <a:rect l="l" t="t" r="r" b="b"/>
            <a:pathLst>
              <a:path w="11386258" h="14461778">
                <a:moveTo>
                  <a:pt x="0" y="0"/>
                </a:moveTo>
                <a:lnTo>
                  <a:pt x="11386258" y="0"/>
                </a:lnTo>
                <a:lnTo>
                  <a:pt x="11386258" y="14461778"/>
                </a:lnTo>
                <a:lnTo>
                  <a:pt x="0" y="14461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806500" y="3313492"/>
            <a:ext cx="10102412" cy="3598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58"/>
              </a:lnSpc>
            </a:pPr>
            <a:r>
              <a:rPr lang="en-US" sz="18500" b="1" spc="-288" dirty="0" smtClean="0">
                <a:solidFill>
                  <a:srgbClr val="000000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PROIECT 3</a:t>
            </a:r>
            <a:endParaRPr lang="en-US" sz="18500" b="1" spc="-288" dirty="0">
              <a:solidFill>
                <a:srgbClr val="000000"/>
              </a:solidFill>
              <a:latin typeface="A Day Without Sun Text Bold"/>
              <a:ea typeface="A Day Without Sun Text Bold"/>
              <a:cs typeface="A Day Without Sun Text Bold"/>
              <a:sym typeface="A Day Without Sun Tex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414509" y="7877377"/>
            <a:ext cx="794569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 err="1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Realizat</a:t>
            </a:r>
            <a:r>
              <a:rPr lang="en-US" sz="300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 de: </a:t>
            </a:r>
            <a:r>
              <a:rPr lang="en-US" sz="3000" dirty="0" err="1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Dumi</a:t>
            </a:r>
            <a:r>
              <a:rPr lang="ro-RO" sz="300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trașcu Livia, Gălămuj Andrada, Olaru Claudia</a:t>
            </a:r>
            <a:endParaRPr lang="en-US" sz="3000" dirty="0">
              <a:solidFill>
                <a:srgbClr val="000000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035662" y="2278233"/>
            <a:ext cx="8216677" cy="1695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39"/>
              </a:lnSpc>
              <a:spcBef>
                <a:spcPct val="0"/>
              </a:spcBef>
            </a:pPr>
            <a:r>
              <a:rPr lang="ro-RO" sz="10599" spc="116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Vă prezentăm</a:t>
            </a:r>
            <a:endParaRPr lang="en-US" sz="10599" spc="116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7" name="Freeform 7"/>
          <p:cNvSpPr/>
          <p:nvPr/>
        </p:nvSpPr>
        <p:spPr>
          <a:xfrm rot="1060722" flipH="1">
            <a:off x="304583" y="1362589"/>
            <a:ext cx="4562127" cy="4588963"/>
          </a:xfrm>
          <a:custGeom>
            <a:avLst/>
            <a:gdLst/>
            <a:ahLst/>
            <a:cxnLst/>
            <a:rect l="l" t="t" r="r" b="b"/>
            <a:pathLst>
              <a:path w="4562127" h="4588963">
                <a:moveTo>
                  <a:pt x="4562126" y="0"/>
                </a:moveTo>
                <a:lnTo>
                  <a:pt x="0" y="0"/>
                </a:lnTo>
                <a:lnTo>
                  <a:pt x="0" y="4588963"/>
                </a:lnTo>
                <a:lnTo>
                  <a:pt x="4562126" y="4588963"/>
                </a:lnTo>
                <a:lnTo>
                  <a:pt x="4562126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671662">
            <a:off x="1556484" y="2783598"/>
            <a:ext cx="2058324" cy="1968507"/>
          </a:xfrm>
          <a:custGeom>
            <a:avLst/>
            <a:gdLst/>
            <a:ahLst/>
            <a:cxnLst/>
            <a:rect l="l" t="t" r="r" b="b"/>
            <a:pathLst>
              <a:path w="2058324" h="1968507">
                <a:moveTo>
                  <a:pt x="0" y="0"/>
                </a:moveTo>
                <a:lnTo>
                  <a:pt x="2058324" y="0"/>
                </a:lnTo>
                <a:lnTo>
                  <a:pt x="2058324" y="1968507"/>
                </a:lnTo>
                <a:lnTo>
                  <a:pt x="0" y="19685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8986" flipH="1">
            <a:off x="13066934" y="4998174"/>
            <a:ext cx="4581499" cy="4608449"/>
          </a:xfrm>
          <a:custGeom>
            <a:avLst/>
            <a:gdLst/>
            <a:ahLst/>
            <a:cxnLst/>
            <a:rect l="l" t="t" r="r" b="b"/>
            <a:pathLst>
              <a:path w="4581499" h="4608449">
                <a:moveTo>
                  <a:pt x="4581499" y="0"/>
                </a:moveTo>
                <a:lnTo>
                  <a:pt x="0" y="0"/>
                </a:lnTo>
                <a:lnTo>
                  <a:pt x="0" y="4608448"/>
                </a:lnTo>
                <a:lnTo>
                  <a:pt x="4581499" y="4608448"/>
                </a:lnTo>
                <a:lnTo>
                  <a:pt x="4581499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344794" y="6449138"/>
            <a:ext cx="2025780" cy="1966848"/>
          </a:xfrm>
          <a:custGeom>
            <a:avLst/>
            <a:gdLst/>
            <a:ahLst/>
            <a:cxnLst/>
            <a:rect l="l" t="t" r="r" b="b"/>
            <a:pathLst>
              <a:path w="2025780" h="1966848">
                <a:moveTo>
                  <a:pt x="0" y="0"/>
                </a:moveTo>
                <a:lnTo>
                  <a:pt x="2025780" y="0"/>
                </a:lnTo>
                <a:lnTo>
                  <a:pt x="2025780" y="1966848"/>
                </a:lnTo>
                <a:lnTo>
                  <a:pt x="0" y="19668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3459258" flipH="1">
            <a:off x="13378512" y="1179570"/>
            <a:ext cx="2506725" cy="3905663"/>
          </a:xfrm>
          <a:custGeom>
            <a:avLst/>
            <a:gdLst/>
            <a:ahLst/>
            <a:cxnLst/>
            <a:rect l="l" t="t" r="r" b="b"/>
            <a:pathLst>
              <a:path w="2506725" h="3905663">
                <a:moveTo>
                  <a:pt x="2506725" y="0"/>
                </a:moveTo>
                <a:lnTo>
                  <a:pt x="0" y="0"/>
                </a:lnTo>
                <a:lnTo>
                  <a:pt x="0" y="3905662"/>
                </a:lnTo>
                <a:lnTo>
                  <a:pt x="2506725" y="3905662"/>
                </a:lnTo>
                <a:lnTo>
                  <a:pt x="250672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4245636" flipH="1">
            <a:off x="2579731" y="5973413"/>
            <a:ext cx="1705687" cy="3374560"/>
          </a:xfrm>
          <a:custGeom>
            <a:avLst/>
            <a:gdLst/>
            <a:ahLst/>
            <a:cxnLst/>
            <a:rect l="l" t="t" r="r" b="b"/>
            <a:pathLst>
              <a:path w="1705687" h="3374560">
                <a:moveTo>
                  <a:pt x="1705687" y="0"/>
                </a:moveTo>
                <a:lnTo>
                  <a:pt x="0" y="0"/>
                </a:lnTo>
                <a:lnTo>
                  <a:pt x="0" y="3374560"/>
                </a:lnTo>
                <a:lnTo>
                  <a:pt x="1705687" y="3374560"/>
                </a:lnTo>
                <a:lnTo>
                  <a:pt x="1705687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488334">
            <a:off x="7097944" y="6933894"/>
            <a:ext cx="3788362" cy="737009"/>
          </a:xfrm>
          <a:custGeom>
            <a:avLst/>
            <a:gdLst/>
            <a:ahLst/>
            <a:cxnLst/>
            <a:rect l="l" t="t" r="r" b="b"/>
            <a:pathLst>
              <a:path w="3788362" h="737009">
                <a:moveTo>
                  <a:pt x="0" y="0"/>
                </a:moveTo>
                <a:lnTo>
                  <a:pt x="3788363" y="0"/>
                </a:lnTo>
                <a:lnTo>
                  <a:pt x="3788363" y="737008"/>
                </a:lnTo>
                <a:lnTo>
                  <a:pt x="0" y="7370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 rot="5976154">
            <a:off x="1971510" y="-2598823"/>
            <a:ext cx="14344983" cy="18219679"/>
          </a:xfrm>
          <a:custGeom>
            <a:avLst/>
            <a:gdLst/>
            <a:ahLst/>
            <a:cxnLst/>
            <a:rect l="l" t="t" r="r" b="b"/>
            <a:pathLst>
              <a:path w="14344983" h="18219679">
                <a:moveTo>
                  <a:pt x="0" y="0"/>
                </a:moveTo>
                <a:lnTo>
                  <a:pt x="14344984" y="0"/>
                </a:lnTo>
                <a:lnTo>
                  <a:pt x="14344984" y="18219678"/>
                </a:lnTo>
                <a:lnTo>
                  <a:pt x="0" y="182196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1805">
            <a:off x="3683463" y="6287511"/>
            <a:ext cx="1454665" cy="1381115"/>
          </a:xfrm>
          <a:custGeom>
            <a:avLst/>
            <a:gdLst/>
            <a:ahLst/>
            <a:cxnLst/>
            <a:rect l="l" t="t" r="r" b="b"/>
            <a:pathLst>
              <a:path w="1454665" h="1381115">
                <a:moveTo>
                  <a:pt x="0" y="0"/>
                </a:moveTo>
                <a:lnTo>
                  <a:pt x="1454665" y="0"/>
                </a:lnTo>
                <a:lnTo>
                  <a:pt x="1454665" y="1381115"/>
                </a:lnTo>
                <a:lnTo>
                  <a:pt x="0" y="138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1805">
            <a:off x="3668543" y="7894800"/>
            <a:ext cx="1454665" cy="1381115"/>
          </a:xfrm>
          <a:custGeom>
            <a:avLst/>
            <a:gdLst/>
            <a:ahLst/>
            <a:cxnLst/>
            <a:rect l="l" t="t" r="r" b="b"/>
            <a:pathLst>
              <a:path w="1454665" h="1381115">
                <a:moveTo>
                  <a:pt x="0" y="0"/>
                </a:moveTo>
                <a:lnTo>
                  <a:pt x="1454665" y="0"/>
                </a:lnTo>
                <a:lnTo>
                  <a:pt x="1454665" y="1381115"/>
                </a:lnTo>
                <a:lnTo>
                  <a:pt x="0" y="138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31805">
            <a:off x="3668543" y="4680202"/>
            <a:ext cx="1454665" cy="1381115"/>
          </a:xfrm>
          <a:custGeom>
            <a:avLst/>
            <a:gdLst/>
            <a:ahLst/>
            <a:cxnLst/>
            <a:rect l="l" t="t" r="r" b="b"/>
            <a:pathLst>
              <a:path w="1454665" h="1381115">
                <a:moveTo>
                  <a:pt x="0" y="0"/>
                </a:moveTo>
                <a:lnTo>
                  <a:pt x="1454665" y="0"/>
                </a:lnTo>
                <a:lnTo>
                  <a:pt x="1454665" y="1381115"/>
                </a:lnTo>
                <a:lnTo>
                  <a:pt x="0" y="138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31805">
            <a:off x="10021337" y="4680202"/>
            <a:ext cx="1454665" cy="1381115"/>
          </a:xfrm>
          <a:custGeom>
            <a:avLst/>
            <a:gdLst/>
            <a:ahLst/>
            <a:cxnLst/>
            <a:rect l="l" t="t" r="r" b="b"/>
            <a:pathLst>
              <a:path w="1454665" h="1381115">
                <a:moveTo>
                  <a:pt x="0" y="0"/>
                </a:moveTo>
                <a:lnTo>
                  <a:pt x="1454665" y="0"/>
                </a:lnTo>
                <a:lnTo>
                  <a:pt x="1454665" y="1381115"/>
                </a:lnTo>
                <a:lnTo>
                  <a:pt x="0" y="138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31805">
            <a:off x="10036256" y="6287510"/>
            <a:ext cx="1454665" cy="1381115"/>
          </a:xfrm>
          <a:custGeom>
            <a:avLst/>
            <a:gdLst/>
            <a:ahLst/>
            <a:cxnLst/>
            <a:rect l="l" t="t" r="r" b="b"/>
            <a:pathLst>
              <a:path w="1454665" h="1381115">
                <a:moveTo>
                  <a:pt x="0" y="0"/>
                </a:moveTo>
                <a:lnTo>
                  <a:pt x="1454665" y="0"/>
                </a:lnTo>
                <a:lnTo>
                  <a:pt x="1454665" y="1381115"/>
                </a:lnTo>
                <a:lnTo>
                  <a:pt x="0" y="138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781505" y="1634476"/>
            <a:ext cx="1389707" cy="1781676"/>
          </a:xfrm>
          <a:custGeom>
            <a:avLst/>
            <a:gdLst/>
            <a:ahLst/>
            <a:cxnLst/>
            <a:rect l="l" t="t" r="r" b="b"/>
            <a:pathLst>
              <a:path w="1389707" h="1781676">
                <a:moveTo>
                  <a:pt x="0" y="0"/>
                </a:moveTo>
                <a:lnTo>
                  <a:pt x="1389707" y="0"/>
                </a:lnTo>
                <a:lnTo>
                  <a:pt x="1389707" y="1781676"/>
                </a:lnTo>
                <a:lnTo>
                  <a:pt x="0" y="17816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541580" y="2006586"/>
            <a:ext cx="13683165" cy="2768534"/>
          </a:xfrm>
          <a:custGeom>
            <a:avLst/>
            <a:gdLst/>
            <a:ahLst/>
            <a:cxnLst/>
            <a:rect l="l" t="t" r="r" b="b"/>
            <a:pathLst>
              <a:path w="6299688" h="2519875">
                <a:moveTo>
                  <a:pt x="0" y="0"/>
                </a:moveTo>
                <a:lnTo>
                  <a:pt x="6299688" y="0"/>
                </a:lnTo>
                <a:lnTo>
                  <a:pt x="6299688" y="2519875"/>
                </a:lnTo>
                <a:lnTo>
                  <a:pt x="0" y="25198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704244" y="1615448"/>
            <a:ext cx="13536620" cy="2064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022"/>
              </a:lnSpc>
              <a:spcBef>
                <a:spcPct val="0"/>
              </a:spcBef>
            </a:pPr>
            <a:r>
              <a:rPr lang="ro-RO" sz="4400" spc="314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Analiza și vizualizarea reacțiilor dintr-o recenzie text</a:t>
            </a:r>
            <a:endParaRPr lang="en-US" sz="4400" spc="314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931287" y="4407404"/>
            <a:ext cx="929176" cy="133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93"/>
              </a:lnSpc>
              <a:spcBef>
                <a:spcPct val="0"/>
              </a:spcBef>
            </a:pPr>
            <a:r>
              <a:rPr lang="en-US" sz="7014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31287" y="6013462"/>
            <a:ext cx="929176" cy="133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93"/>
              </a:lnSpc>
              <a:spcBef>
                <a:spcPct val="0"/>
              </a:spcBef>
            </a:pPr>
            <a:r>
              <a:rPr lang="en-US" sz="7014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31287" y="7591203"/>
            <a:ext cx="929176" cy="133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93"/>
              </a:lnSpc>
              <a:spcBef>
                <a:spcPct val="0"/>
              </a:spcBef>
            </a:pPr>
            <a:r>
              <a:rPr lang="en-US" sz="7014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99001" y="4364882"/>
            <a:ext cx="929176" cy="133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93"/>
              </a:lnSpc>
              <a:spcBef>
                <a:spcPct val="0"/>
              </a:spcBef>
            </a:pPr>
            <a:r>
              <a:rPr lang="en-US" sz="7014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69661" y="4933543"/>
            <a:ext cx="4988242" cy="57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2233" lvl="1" indent="-326117" algn="l">
              <a:lnSpc>
                <a:spcPts val="4863"/>
              </a:lnSpc>
              <a:buFont typeface="Arial"/>
              <a:buChar char="•"/>
            </a:pPr>
            <a:r>
              <a:rPr lang="ro-RO" sz="302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IMPLEMENTARE</a:t>
            </a:r>
            <a:endParaRPr lang="en-US" sz="3020" dirty="0">
              <a:solidFill>
                <a:srgbClr val="000000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878314" y="8165246"/>
            <a:ext cx="4988242" cy="57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2233" lvl="1" indent="-326117" algn="l">
              <a:lnSpc>
                <a:spcPts val="4863"/>
              </a:lnSpc>
              <a:buFont typeface="Arial"/>
              <a:buChar char="•"/>
            </a:pPr>
            <a:r>
              <a:rPr lang="ro-RO" sz="302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TIPURI DE REACȚII</a:t>
            </a:r>
            <a:endParaRPr lang="en-US" sz="3020" dirty="0">
              <a:solidFill>
                <a:srgbClr val="000000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878314" y="6511017"/>
            <a:ext cx="4988242" cy="57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2233" lvl="1" indent="-326117" algn="l">
              <a:lnSpc>
                <a:spcPts val="4863"/>
              </a:lnSpc>
              <a:buFont typeface="Arial"/>
              <a:buChar char="•"/>
            </a:pPr>
            <a:r>
              <a:rPr lang="ro-RO" sz="302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TEHNOLOGII UTILIZATE </a:t>
            </a:r>
            <a:endParaRPr lang="en-US" sz="3020" dirty="0">
              <a:solidFill>
                <a:srgbClr val="000000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878314" y="4992659"/>
            <a:ext cx="5078987" cy="57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2233" lvl="1" indent="-326117" algn="l">
              <a:lnSpc>
                <a:spcPts val="4863"/>
              </a:lnSpc>
              <a:buFont typeface="Arial"/>
              <a:buChar char="•"/>
            </a:pPr>
            <a:r>
              <a:rPr lang="ro-RO" sz="302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INTRODUCERE</a:t>
            </a:r>
            <a:endParaRPr lang="en-US" sz="3020" dirty="0">
              <a:solidFill>
                <a:srgbClr val="000000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299001" y="6071835"/>
            <a:ext cx="929176" cy="133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93"/>
              </a:lnSpc>
              <a:spcBef>
                <a:spcPct val="0"/>
              </a:spcBef>
            </a:pPr>
            <a:r>
              <a:rPr lang="en-US" sz="7014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93980" y="6549055"/>
            <a:ext cx="4988242" cy="57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2233" lvl="1" indent="-326117" algn="l">
              <a:lnSpc>
                <a:spcPts val="4863"/>
              </a:lnSpc>
              <a:buFont typeface="Arial"/>
              <a:buChar char="•"/>
            </a:pPr>
            <a:r>
              <a:rPr lang="en-US" sz="302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CO</a:t>
            </a:r>
            <a:r>
              <a:rPr lang="ro-RO" sz="302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NCLUZII</a:t>
            </a:r>
            <a:endParaRPr lang="en-US" sz="3020" dirty="0">
              <a:solidFill>
                <a:srgbClr val="000000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25" name="Freeform 25"/>
          <p:cNvSpPr/>
          <p:nvPr/>
        </p:nvSpPr>
        <p:spPr>
          <a:xfrm rot="740594">
            <a:off x="15415625" y="3524709"/>
            <a:ext cx="1389707" cy="1781676"/>
          </a:xfrm>
          <a:custGeom>
            <a:avLst/>
            <a:gdLst/>
            <a:ahLst/>
            <a:cxnLst/>
            <a:rect l="l" t="t" r="r" b="b"/>
            <a:pathLst>
              <a:path w="1389707" h="1781676">
                <a:moveTo>
                  <a:pt x="0" y="0"/>
                </a:moveTo>
                <a:lnTo>
                  <a:pt x="1389707" y="0"/>
                </a:lnTo>
                <a:lnTo>
                  <a:pt x="1389707" y="1781676"/>
                </a:lnTo>
                <a:lnTo>
                  <a:pt x="0" y="17816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8"/>
          <p:cNvSpPr/>
          <p:nvPr/>
        </p:nvSpPr>
        <p:spPr>
          <a:xfrm rot="131805">
            <a:off x="10021338" y="7955926"/>
            <a:ext cx="1454665" cy="1381115"/>
          </a:xfrm>
          <a:custGeom>
            <a:avLst/>
            <a:gdLst/>
            <a:ahLst/>
            <a:cxnLst/>
            <a:rect l="l" t="t" r="r" b="b"/>
            <a:pathLst>
              <a:path w="1454665" h="1381115">
                <a:moveTo>
                  <a:pt x="0" y="0"/>
                </a:moveTo>
                <a:lnTo>
                  <a:pt x="1454665" y="0"/>
                </a:lnTo>
                <a:lnTo>
                  <a:pt x="1454665" y="1381115"/>
                </a:lnTo>
                <a:lnTo>
                  <a:pt x="0" y="138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o-RO" dirty="0"/>
          </a:p>
        </p:txBody>
      </p:sp>
      <p:sp>
        <p:nvSpPr>
          <p:cNvPr id="27" name="TextBox 21"/>
          <p:cNvSpPr txBox="1"/>
          <p:nvPr/>
        </p:nvSpPr>
        <p:spPr>
          <a:xfrm>
            <a:off x="10284081" y="7774242"/>
            <a:ext cx="929176" cy="133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93"/>
              </a:lnSpc>
              <a:spcBef>
                <a:spcPct val="0"/>
              </a:spcBef>
            </a:pPr>
            <a:r>
              <a:rPr lang="ro-RO" sz="7014" dirty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6</a:t>
            </a:r>
            <a:endParaRPr lang="en-US" sz="7014" dirty="0">
              <a:solidFill>
                <a:srgbClr val="000000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29" name="TextBox 24"/>
          <p:cNvSpPr txBox="1"/>
          <p:nvPr/>
        </p:nvSpPr>
        <p:spPr>
          <a:xfrm>
            <a:off x="11389913" y="8268320"/>
            <a:ext cx="4988242" cy="57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2233" lvl="1" indent="-326117" algn="l">
              <a:lnSpc>
                <a:spcPts val="4863"/>
              </a:lnSpc>
              <a:buFont typeface="Arial"/>
              <a:buChar char="•"/>
            </a:pPr>
            <a:r>
              <a:rPr lang="ro-RO" sz="3020" dirty="0" smtClean="0">
                <a:solidFill>
                  <a:srgbClr val="000000"/>
                </a:solidFill>
                <a:latin typeface="Itim"/>
                <a:ea typeface="Itim"/>
                <a:cs typeface="Itim"/>
                <a:sym typeface="Itim"/>
              </a:rPr>
              <a:t>GANNT CHART</a:t>
            </a:r>
            <a:endParaRPr lang="en-US" sz="3020" dirty="0">
              <a:solidFill>
                <a:srgbClr val="000000"/>
              </a:solidFill>
              <a:latin typeface="Itim"/>
              <a:ea typeface="Itim"/>
              <a:cs typeface="Itim"/>
              <a:sym typeface="Iti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 rot="5966813">
            <a:off x="3750727" y="-1706540"/>
            <a:ext cx="10786546" cy="13700079"/>
          </a:xfrm>
          <a:custGeom>
            <a:avLst/>
            <a:gdLst/>
            <a:ahLst/>
            <a:cxnLst/>
            <a:rect l="l" t="t" r="r" b="b"/>
            <a:pathLst>
              <a:path w="10786546" h="13700079">
                <a:moveTo>
                  <a:pt x="0" y="0"/>
                </a:moveTo>
                <a:lnTo>
                  <a:pt x="10786546" y="0"/>
                </a:lnTo>
                <a:lnTo>
                  <a:pt x="10786546" y="13700080"/>
                </a:lnTo>
                <a:lnTo>
                  <a:pt x="0" y="13700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1644" y="529928"/>
            <a:ext cx="4121568" cy="4114800"/>
          </a:xfrm>
          <a:custGeom>
            <a:avLst/>
            <a:gdLst/>
            <a:ahLst/>
            <a:cxnLst/>
            <a:rect l="l" t="t" r="r" b="b"/>
            <a:pathLst>
              <a:path w="4121568" h="4114800">
                <a:moveTo>
                  <a:pt x="0" y="0"/>
                </a:moveTo>
                <a:lnTo>
                  <a:pt x="4121567" y="0"/>
                </a:lnTo>
                <a:lnTo>
                  <a:pt x="41215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000336" y="1760997"/>
            <a:ext cx="10656837" cy="193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39"/>
              </a:lnSpc>
              <a:spcBef>
                <a:spcPct val="0"/>
              </a:spcBef>
            </a:pPr>
            <a:r>
              <a:rPr lang="en-US" sz="12099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In</a:t>
            </a:r>
            <a:r>
              <a:rPr lang="ro-RO" sz="12099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troducere</a:t>
            </a:r>
            <a:endParaRPr lang="en-US" sz="12099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000336" y="4490334"/>
            <a:ext cx="10673910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6"/>
              </a:lnSpc>
            </a:pPr>
            <a:r>
              <a:rPr lang="ro-RO" sz="3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ekko"/>
                <a:ea typeface="Dekko"/>
                <a:cs typeface="Dekko"/>
                <a:sym typeface="Dekko"/>
              </a:rPr>
              <a:t>Like-ul nu mai este singur, trăiască reacțiile! </a:t>
            </a:r>
          </a:p>
          <a:p>
            <a:pPr algn="ctr">
              <a:lnSpc>
                <a:spcPts val="3966"/>
              </a:lnSpc>
            </a:pPr>
            <a:r>
              <a:rPr lang="ro-RO" sz="3600" b="1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</a:p>
          <a:p>
            <a:pPr algn="ctr">
              <a:lnSpc>
                <a:spcPts val="3966"/>
              </a:lnSpc>
            </a:pPr>
            <a:r>
              <a:rPr lang="ro-RO" sz="3027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Rețelele sociale și alte platforme digitale nu doar că țin pasul cu noile tendințe ale secolului, ci se adaptează totodată nevoilor utilizatorilor de a-și exprima liber </a:t>
            </a:r>
            <a:r>
              <a:rPr lang="ro-RO" sz="3027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opiniile.  În acest fel, au apărut reacțiile.</a:t>
            </a:r>
          </a:p>
          <a:p>
            <a:pPr algn="ctr">
              <a:lnSpc>
                <a:spcPts val="3966"/>
              </a:lnSpc>
            </a:pPr>
            <a:r>
              <a:rPr lang="ro-RO" sz="3027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Proiectul presupune dezvoltarea unui sistem care analizează și vizualizează  reacțiile utilizatorilor la recenzii din diverse domenii (filme, servicii, îmbrăcăminte), clasificându-le în funcție de tipul acestora.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486400" y="3938533"/>
            <a:ext cx="7315200" cy="288178"/>
            <a:chOff x="0" y="0"/>
            <a:chExt cx="9753600" cy="3842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753600" cy="212806"/>
            </a:xfrm>
            <a:custGeom>
              <a:avLst/>
              <a:gdLst/>
              <a:ahLst/>
              <a:cxnLst/>
              <a:rect l="l" t="t" r="r" b="b"/>
              <a:pathLst>
                <a:path w="9753600" h="212806">
                  <a:moveTo>
                    <a:pt x="0" y="0"/>
                  </a:moveTo>
                  <a:lnTo>
                    <a:pt x="9753600" y="0"/>
                  </a:lnTo>
                  <a:lnTo>
                    <a:pt x="9753600" y="212806"/>
                  </a:lnTo>
                  <a:lnTo>
                    <a:pt x="0" y="21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685043" y="212806"/>
              <a:ext cx="7857304" cy="171432"/>
            </a:xfrm>
            <a:custGeom>
              <a:avLst/>
              <a:gdLst/>
              <a:ahLst/>
              <a:cxnLst/>
              <a:rect l="l" t="t" r="r" b="b"/>
              <a:pathLst>
                <a:path w="7857304" h="171432">
                  <a:moveTo>
                    <a:pt x="0" y="0"/>
                  </a:moveTo>
                  <a:lnTo>
                    <a:pt x="7857304" y="0"/>
                  </a:lnTo>
                  <a:lnTo>
                    <a:pt x="7857304" y="171432"/>
                  </a:lnTo>
                  <a:lnTo>
                    <a:pt x="0" y="171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 rot="114411">
            <a:off x="709978" y="1017465"/>
            <a:ext cx="9498257" cy="13605495"/>
          </a:xfrm>
          <a:custGeom>
            <a:avLst/>
            <a:gdLst/>
            <a:ahLst/>
            <a:cxnLst/>
            <a:rect l="l" t="t" r="r" b="b"/>
            <a:pathLst>
              <a:path w="9498257" h="13605495">
                <a:moveTo>
                  <a:pt x="0" y="0"/>
                </a:moveTo>
                <a:lnTo>
                  <a:pt x="9498256" y="0"/>
                </a:lnTo>
                <a:lnTo>
                  <a:pt x="9498256" y="13605495"/>
                </a:lnTo>
                <a:lnTo>
                  <a:pt x="0" y="136054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8932"/>
            </a:stretch>
          </a:blipFill>
          <a:ln>
            <a:noFill/>
          </a:ln>
        </p:spPr>
      </p:sp>
      <p:sp>
        <p:nvSpPr>
          <p:cNvPr id="11" name="Freeform 11"/>
          <p:cNvSpPr/>
          <p:nvPr/>
        </p:nvSpPr>
        <p:spPr>
          <a:xfrm rot="-5325812">
            <a:off x="5297018" y="1478122"/>
            <a:ext cx="667579" cy="5321282"/>
          </a:xfrm>
          <a:custGeom>
            <a:avLst/>
            <a:gdLst/>
            <a:ahLst/>
            <a:cxnLst/>
            <a:rect l="l" t="t" r="r" b="b"/>
            <a:pathLst>
              <a:path w="667579" h="5321282">
                <a:moveTo>
                  <a:pt x="0" y="0"/>
                </a:moveTo>
                <a:lnTo>
                  <a:pt x="667579" y="0"/>
                </a:lnTo>
                <a:lnTo>
                  <a:pt x="667579" y="5321282"/>
                </a:lnTo>
                <a:lnTo>
                  <a:pt x="0" y="5321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08864" y="2019300"/>
            <a:ext cx="9030508" cy="1920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939"/>
              </a:lnSpc>
              <a:spcBef>
                <a:spcPct val="0"/>
              </a:spcBef>
            </a:pPr>
            <a:r>
              <a:rPr lang="ro-RO" sz="11500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Tehnologii utilizate</a:t>
            </a:r>
            <a:endParaRPr lang="en-US" sz="11500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5" name="Freeform 11"/>
          <p:cNvSpPr/>
          <p:nvPr/>
        </p:nvSpPr>
        <p:spPr>
          <a:xfrm rot="16353011">
            <a:off x="1902516" y="4856714"/>
            <a:ext cx="502793" cy="1622642"/>
          </a:xfrm>
          <a:custGeom>
            <a:avLst/>
            <a:gdLst/>
            <a:ahLst/>
            <a:cxnLst/>
            <a:rect l="l" t="t" r="r" b="b"/>
            <a:pathLst>
              <a:path w="667579" h="5321282">
                <a:moveTo>
                  <a:pt x="0" y="0"/>
                </a:moveTo>
                <a:lnTo>
                  <a:pt x="667579" y="0"/>
                </a:lnTo>
                <a:lnTo>
                  <a:pt x="667579" y="5321282"/>
                </a:lnTo>
                <a:lnTo>
                  <a:pt x="0" y="5321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1"/>
          <p:cNvSpPr/>
          <p:nvPr/>
        </p:nvSpPr>
        <p:spPr>
          <a:xfrm rot="16353011">
            <a:off x="1890483" y="5597180"/>
            <a:ext cx="502793" cy="1622642"/>
          </a:xfrm>
          <a:custGeom>
            <a:avLst/>
            <a:gdLst/>
            <a:ahLst/>
            <a:cxnLst/>
            <a:rect l="l" t="t" r="r" b="b"/>
            <a:pathLst>
              <a:path w="667579" h="5321282">
                <a:moveTo>
                  <a:pt x="0" y="0"/>
                </a:moveTo>
                <a:lnTo>
                  <a:pt x="667579" y="0"/>
                </a:lnTo>
                <a:lnTo>
                  <a:pt x="667579" y="5321282"/>
                </a:lnTo>
                <a:lnTo>
                  <a:pt x="0" y="5321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1"/>
          <p:cNvSpPr/>
          <p:nvPr/>
        </p:nvSpPr>
        <p:spPr>
          <a:xfrm rot="16353011">
            <a:off x="1902516" y="6338766"/>
            <a:ext cx="502793" cy="1622642"/>
          </a:xfrm>
          <a:custGeom>
            <a:avLst/>
            <a:gdLst/>
            <a:ahLst/>
            <a:cxnLst/>
            <a:rect l="l" t="t" r="r" b="b"/>
            <a:pathLst>
              <a:path w="667579" h="5321282">
                <a:moveTo>
                  <a:pt x="0" y="0"/>
                </a:moveTo>
                <a:lnTo>
                  <a:pt x="667579" y="0"/>
                </a:lnTo>
                <a:lnTo>
                  <a:pt x="667579" y="5321282"/>
                </a:lnTo>
                <a:lnTo>
                  <a:pt x="0" y="5321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1"/>
          <p:cNvSpPr/>
          <p:nvPr/>
        </p:nvSpPr>
        <p:spPr>
          <a:xfrm rot="16353011">
            <a:off x="1890483" y="7008893"/>
            <a:ext cx="502793" cy="1622642"/>
          </a:xfrm>
          <a:custGeom>
            <a:avLst/>
            <a:gdLst/>
            <a:ahLst/>
            <a:cxnLst/>
            <a:rect l="l" t="t" r="r" b="b"/>
            <a:pathLst>
              <a:path w="667579" h="5321282">
                <a:moveTo>
                  <a:pt x="0" y="0"/>
                </a:moveTo>
                <a:lnTo>
                  <a:pt x="667579" y="0"/>
                </a:lnTo>
                <a:lnTo>
                  <a:pt x="667579" y="5321282"/>
                </a:lnTo>
                <a:lnTo>
                  <a:pt x="0" y="5321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19"/>
          <p:cNvSpPr txBox="1"/>
          <p:nvPr/>
        </p:nvSpPr>
        <p:spPr>
          <a:xfrm rot="30344">
            <a:off x="1710084" y="5540708"/>
            <a:ext cx="6192641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6"/>
              </a:lnSpc>
            </a:pPr>
            <a:r>
              <a:rPr lang="ro-RO" sz="40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Python</a:t>
            </a:r>
            <a:endParaRPr lang="en-US" sz="4000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22" name="TextBox 21"/>
          <p:cNvSpPr txBox="1"/>
          <p:nvPr/>
        </p:nvSpPr>
        <p:spPr>
          <a:xfrm rot="30344">
            <a:off x="2143923" y="6370755"/>
            <a:ext cx="6192641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6"/>
              </a:lnSpc>
            </a:pPr>
            <a:r>
              <a:rPr lang="ro-RO" sz="40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ro-RO" sz="40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Matplotlib/Seaborn</a:t>
            </a:r>
            <a:endParaRPr lang="en-US" sz="4000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23" name="TextBox 22"/>
          <p:cNvSpPr txBox="1"/>
          <p:nvPr/>
        </p:nvSpPr>
        <p:spPr>
          <a:xfrm rot="30344">
            <a:off x="2320993" y="7785185"/>
            <a:ext cx="7614381" cy="939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36"/>
              </a:lnSpc>
            </a:pPr>
            <a:r>
              <a:rPr lang="ro-RO" sz="40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Librării NLP (Natural Language Processing)</a:t>
            </a:r>
            <a:endParaRPr lang="en-US" sz="4000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25" name="TextBox 24"/>
          <p:cNvSpPr txBox="1"/>
          <p:nvPr/>
        </p:nvSpPr>
        <p:spPr>
          <a:xfrm rot="30344">
            <a:off x="2155773" y="7060779"/>
            <a:ext cx="6192641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6"/>
              </a:lnSpc>
            </a:pPr>
            <a:r>
              <a:rPr lang="ro-RO" sz="40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F</a:t>
            </a:r>
            <a:r>
              <a:rPr lang="ro-RO" sz="40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ișiere </a:t>
            </a:r>
            <a:r>
              <a:rPr lang="ro-RO" sz="4000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CSV sau JSON   </a:t>
            </a:r>
            <a:endParaRPr lang="en-US" sz="4000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1021412" y="181045"/>
            <a:ext cx="8530186" cy="9924910"/>
            <a:chOff x="10800688" y="211678"/>
            <a:chExt cx="8530186" cy="9924910"/>
          </a:xfrm>
        </p:grpSpPr>
        <p:grpSp>
          <p:nvGrpSpPr>
            <p:cNvPr id="4" name="Group 4"/>
            <p:cNvGrpSpPr/>
            <p:nvPr/>
          </p:nvGrpSpPr>
          <p:grpSpPr>
            <a:xfrm rot="21142437">
              <a:off x="10800688" y="1291634"/>
              <a:ext cx="6047737" cy="8772471"/>
              <a:chOff x="0" y="0"/>
              <a:chExt cx="7874632" cy="11696629"/>
            </a:xfrm>
          </p:grpSpPr>
          <p:sp>
            <p:nvSpPr>
              <p:cNvPr id="5" name="Freeform 5"/>
              <p:cNvSpPr/>
              <p:nvPr/>
            </p:nvSpPr>
            <p:spPr>
              <a:xfrm rot="-72509">
                <a:off x="874027" y="10354586"/>
                <a:ext cx="6451405" cy="1274152"/>
              </a:xfrm>
              <a:custGeom>
                <a:avLst/>
                <a:gdLst/>
                <a:ahLst/>
                <a:cxnLst/>
                <a:rect l="l" t="t" r="r" b="b"/>
                <a:pathLst>
                  <a:path w="6451405" h="1274152">
                    <a:moveTo>
                      <a:pt x="0" y="0"/>
                    </a:moveTo>
                    <a:lnTo>
                      <a:pt x="6451405" y="0"/>
                    </a:lnTo>
                    <a:lnTo>
                      <a:pt x="6451405" y="1274152"/>
                    </a:lnTo>
                    <a:lnTo>
                      <a:pt x="0" y="127415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/>
                </a:stretch>
              </a:blipFill>
            </p:spPr>
          </p:sp>
          <p:grpSp>
            <p:nvGrpSpPr>
              <p:cNvPr id="6" name="Group 6"/>
              <p:cNvGrpSpPr>
                <a:grpSpLocks noChangeAspect="1"/>
              </p:cNvGrpSpPr>
              <p:nvPr/>
            </p:nvGrpSpPr>
            <p:grpSpPr>
              <a:xfrm rot="21510">
                <a:off x="34414" y="24313"/>
                <a:ext cx="7805804" cy="11024243"/>
                <a:chOff x="0" y="0"/>
                <a:chExt cx="3267456" cy="4614672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0" y="0"/>
                  <a:ext cx="3267456" cy="4618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7456" h="4618736">
                      <a:moveTo>
                        <a:pt x="3267456" y="4618736"/>
                      </a:moveTo>
                      <a:lnTo>
                        <a:pt x="0" y="4618736"/>
                      </a:lnTo>
                      <a:lnTo>
                        <a:pt x="0" y="0"/>
                      </a:lnTo>
                      <a:lnTo>
                        <a:pt x="3267456" y="0"/>
                      </a:lnTo>
                      <a:lnTo>
                        <a:pt x="3267456" y="4618736"/>
                      </a:lnTo>
                      <a:close/>
                    </a:path>
                  </a:pathLst>
                </a:custGeom>
                <a:blipFill>
                  <a:blip r:embed="rId14"/>
                  <a:stretch>
                    <a:fillRect l="-4" r="-4"/>
                  </a:stretch>
                </a:blipFill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56770" y="48203"/>
                  <a:ext cx="3142190" cy="3592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2190" h="3592604">
                      <a:moveTo>
                        <a:pt x="3142190" y="35325"/>
                      </a:moveTo>
                      <a:lnTo>
                        <a:pt x="3106219" y="3592604"/>
                      </a:lnTo>
                      <a:lnTo>
                        <a:pt x="0" y="3558211"/>
                      </a:lnTo>
                      <a:lnTo>
                        <a:pt x="28183" y="0"/>
                      </a:lnTo>
                      <a:lnTo>
                        <a:pt x="3142190" y="35325"/>
                      </a:lnTo>
                      <a:close/>
                    </a:path>
                  </a:pathLst>
                </a:custGeom>
                <a:blipFill>
                  <a:blip r:embed="rId15"/>
                  <a:stretch>
                    <a:fillRect l="-21204" r="-50082"/>
                  </a:stretch>
                </a:blipFill>
              </p:spPr>
            </p:sp>
          </p:grpSp>
        </p:grpSp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207771">
              <a:off x="10832357" y="1430760"/>
              <a:ext cx="5714234" cy="6559326"/>
            </a:xfrm>
            <a:prstGeom prst="rect">
              <a:avLst/>
            </a:prstGeom>
          </p:spPr>
        </p:pic>
        <p:sp>
          <p:nvSpPr>
            <p:cNvPr id="9" name="Freeform 9"/>
            <p:cNvSpPr/>
            <p:nvPr/>
          </p:nvSpPr>
          <p:spPr>
            <a:xfrm rot="-10440318">
              <a:off x="15272068" y="211678"/>
              <a:ext cx="515542" cy="2100354"/>
            </a:xfrm>
            <a:custGeom>
              <a:avLst/>
              <a:gdLst/>
              <a:ahLst/>
              <a:cxnLst/>
              <a:rect l="l" t="t" r="r" b="b"/>
              <a:pathLst>
                <a:path w="515542" h="2100354">
                  <a:moveTo>
                    <a:pt x="0" y="0"/>
                  </a:moveTo>
                  <a:lnTo>
                    <a:pt x="515542" y="0"/>
                  </a:lnTo>
                  <a:lnTo>
                    <a:pt x="515542" y="2100355"/>
                  </a:lnTo>
                  <a:lnTo>
                    <a:pt x="0" y="2100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xmlns="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flipH="1">
              <a:off x="14083023" y="7770284"/>
              <a:ext cx="5247851" cy="2366304"/>
            </a:xfrm>
            <a:custGeom>
              <a:avLst/>
              <a:gdLst/>
              <a:ahLst/>
              <a:cxnLst/>
              <a:rect l="l" t="t" r="r" b="b"/>
              <a:pathLst>
                <a:path w="5247851" h="2366304">
                  <a:moveTo>
                    <a:pt x="5247850" y="0"/>
                  </a:moveTo>
                  <a:lnTo>
                    <a:pt x="0" y="0"/>
                  </a:lnTo>
                  <a:lnTo>
                    <a:pt x="0" y="2366303"/>
                  </a:lnTo>
                  <a:lnTo>
                    <a:pt x="5247850" y="2366303"/>
                  </a:lnTo>
                  <a:lnTo>
                    <a:pt x="524785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xmlns="" r:embed="rId10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1813" y="1475913"/>
            <a:ext cx="10016388" cy="7413986"/>
          </a:xfrm>
          <a:custGeom>
            <a:avLst/>
            <a:gdLst/>
            <a:ahLst/>
            <a:cxnLst/>
            <a:rect l="l" t="t" r="r" b="b"/>
            <a:pathLst>
              <a:path w="10016388" h="7413986">
                <a:moveTo>
                  <a:pt x="0" y="0"/>
                </a:moveTo>
                <a:lnTo>
                  <a:pt x="10016388" y="0"/>
                </a:lnTo>
                <a:lnTo>
                  <a:pt x="10016388" y="7413986"/>
                </a:lnTo>
                <a:lnTo>
                  <a:pt x="0" y="7413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6385">
            <a:off x="2122576" y="1302958"/>
            <a:ext cx="879086" cy="877590"/>
          </a:xfrm>
          <a:custGeom>
            <a:avLst/>
            <a:gdLst/>
            <a:ahLst/>
            <a:cxnLst/>
            <a:rect l="l" t="t" r="r" b="b"/>
            <a:pathLst>
              <a:path w="879086" h="877590">
                <a:moveTo>
                  <a:pt x="0" y="0"/>
                </a:moveTo>
                <a:lnTo>
                  <a:pt x="879086" y="0"/>
                </a:lnTo>
                <a:lnTo>
                  <a:pt x="879086" y="877591"/>
                </a:lnTo>
                <a:lnTo>
                  <a:pt x="0" y="8775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115856">
            <a:off x="2344695" y="2295688"/>
            <a:ext cx="6831398" cy="2702198"/>
          </a:xfrm>
          <a:custGeom>
            <a:avLst/>
            <a:gdLst/>
            <a:ahLst/>
            <a:cxnLst/>
            <a:rect l="l" t="t" r="r" b="b"/>
            <a:pathLst>
              <a:path w="6299688" h="2519875">
                <a:moveTo>
                  <a:pt x="0" y="0"/>
                </a:moveTo>
                <a:lnTo>
                  <a:pt x="6299688" y="0"/>
                </a:lnTo>
                <a:lnTo>
                  <a:pt x="6299688" y="2519875"/>
                </a:lnTo>
                <a:lnTo>
                  <a:pt x="0" y="25198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728545" y="2729221"/>
            <a:ext cx="8185671" cy="1679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96"/>
              </a:lnSpc>
              <a:spcBef>
                <a:spcPct val="0"/>
              </a:spcBef>
            </a:pPr>
            <a:r>
              <a:rPr lang="ro-RO" sz="9354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Tipuri de reacții</a:t>
            </a:r>
            <a:endParaRPr lang="en-US" sz="9354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9" name="TextBox 19"/>
          <p:cNvSpPr txBox="1"/>
          <p:nvPr/>
        </p:nvSpPr>
        <p:spPr>
          <a:xfrm rot="30344">
            <a:off x="2573812" y="5247292"/>
            <a:ext cx="6192641" cy="2244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536"/>
              </a:lnSpc>
              <a:buFont typeface="Courier New" panose="02070309020205020404" pitchFamily="49" charset="0"/>
              <a:buChar char="o"/>
            </a:pPr>
            <a:r>
              <a:rPr lang="en-US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L</a:t>
            </a: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ove: reacții pozitive și de apreciere</a:t>
            </a:r>
          </a:p>
          <a:p>
            <a:pPr marL="457200" indent="-457200">
              <a:lnSpc>
                <a:spcPts val="3536"/>
              </a:lnSpc>
              <a:buFont typeface="Courier New" panose="02070309020205020404" pitchFamily="49" charset="0"/>
              <a:buChar char="o"/>
            </a:pP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Haha: reacții amuzante sau haioase</a:t>
            </a:r>
          </a:p>
          <a:p>
            <a:pPr marL="457200" indent="-457200">
              <a:lnSpc>
                <a:spcPts val="3536"/>
              </a:lnSpc>
              <a:buFont typeface="Courier New" panose="02070309020205020404" pitchFamily="49" charset="0"/>
              <a:buChar char="o"/>
            </a:pP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Cry: reacții de tristețe sau emoție profundă</a:t>
            </a:r>
          </a:p>
          <a:p>
            <a:pPr marL="457200" indent="-457200">
              <a:lnSpc>
                <a:spcPts val="3536"/>
              </a:lnSpc>
              <a:buFont typeface="Courier New" panose="02070309020205020404" pitchFamily="49" charset="0"/>
              <a:buChar char="o"/>
            </a:pP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Anger: reacții de supărare sau furie</a:t>
            </a:r>
            <a:endParaRPr lang="en-US" sz="2699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9855059" y="1096911"/>
            <a:ext cx="1128001" cy="1903069"/>
          </a:xfrm>
          <a:custGeom>
            <a:avLst/>
            <a:gdLst/>
            <a:ahLst/>
            <a:cxnLst/>
            <a:rect l="l" t="t" r="r" b="b"/>
            <a:pathLst>
              <a:path w="1128001" h="1903069">
                <a:moveTo>
                  <a:pt x="0" y="0"/>
                </a:moveTo>
                <a:lnTo>
                  <a:pt x="1128001" y="0"/>
                </a:lnTo>
                <a:lnTo>
                  <a:pt x="1128001" y="1903070"/>
                </a:lnTo>
                <a:lnTo>
                  <a:pt x="0" y="19030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1424109">
            <a:off x="15506447" y="7208700"/>
            <a:ext cx="1128001" cy="1903069"/>
          </a:xfrm>
          <a:custGeom>
            <a:avLst/>
            <a:gdLst/>
            <a:ahLst/>
            <a:cxnLst/>
            <a:rect l="l" t="t" r="r" b="b"/>
            <a:pathLst>
              <a:path w="1128001" h="1903069">
                <a:moveTo>
                  <a:pt x="0" y="0"/>
                </a:moveTo>
                <a:lnTo>
                  <a:pt x="1128001" y="0"/>
                </a:lnTo>
                <a:lnTo>
                  <a:pt x="1128001" y="1903069"/>
                </a:lnTo>
                <a:lnTo>
                  <a:pt x="0" y="19030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32" name="Group 31"/>
          <p:cNvGrpSpPr/>
          <p:nvPr/>
        </p:nvGrpSpPr>
        <p:grpSpPr>
          <a:xfrm rot="637122">
            <a:off x="12246572" y="79458"/>
            <a:ext cx="5094172" cy="5917951"/>
            <a:chOff x="8876575" y="4650330"/>
            <a:chExt cx="5094172" cy="5917951"/>
          </a:xfrm>
        </p:grpSpPr>
        <p:grpSp>
          <p:nvGrpSpPr>
            <p:cNvPr id="26" name="Group 12"/>
            <p:cNvGrpSpPr>
              <a:grpSpLocks noChangeAspect="1"/>
            </p:cNvGrpSpPr>
            <p:nvPr/>
          </p:nvGrpSpPr>
          <p:grpSpPr>
            <a:xfrm rot="466935">
              <a:off x="8876575" y="4650330"/>
              <a:ext cx="5094172" cy="5917951"/>
              <a:chOff x="0" y="0"/>
              <a:chExt cx="5466080" cy="6350000"/>
            </a:xfrm>
          </p:grpSpPr>
          <p:sp>
            <p:nvSpPr>
              <p:cNvPr id="27" name="Freeform 13"/>
              <p:cNvSpPr/>
              <p:nvPr/>
            </p:nvSpPr>
            <p:spPr>
              <a:xfrm>
                <a:off x="0" y="0"/>
                <a:ext cx="5439410" cy="6348730"/>
              </a:xfrm>
              <a:custGeom>
                <a:avLst/>
                <a:gdLst/>
                <a:ahLst/>
                <a:cxnLst/>
                <a:rect l="l" t="t" r="r" b="b"/>
                <a:pathLst>
                  <a:path w="5439410" h="6348730">
                    <a:moveTo>
                      <a:pt x="5419090" y="0"/>
                    </a:moveTo>
                    <a:lnTo>
                      <a:pt x="19050" y="0"/>
                    </a:lnTo>
                    <a:cubicBezTo>
                      <a:pt x="8890" y="0"/>
                      <a:pt x="0" y="8890"/>
                      <a:pt x="0" y="20320"/>
                    </a:cubicBezTo>
                    <a:lnTo>
                      <a:pt x="0" y="6329680"/>
                    </a:lnTo>
                    <a:cubicBezTo>
                      <a:pt x="0" y="6339840"/>
                      <a:pt x="8890" y="6348730"/>
                      <a:pt x="19050" y="6348730"/>
                    </a:cubicBezTo>
                    <a:lnTo>
                      <a:pt x="5419090" y="6348730"/>
                    </a:lnTo>
                    <a:cubicBezTo>
                      <a:pt x="5429250" y="6348730"/>
                      <a:pt x="5438140" y="6339840"/>
                      <a:pt x="5438140" y="6329680"/>
                    </a:cubicBezTo>
                    <a:lnTo>
                      <a:pt x="5438140" y="20320"/>
                    </a:lnTo>
                    <a:cubicBezTo>
                      <a:pt x="5439410" y="8890"/>
                      <a:pt x="5430520" y="0"/>
                      <a:pt x="5419090" y="0"/>
                    </a:cubicBezTo>
                    <a:close/>
                    <a:moveTo>
                      <a:pt x="5137150" y="314960"/>
                    </a:moveTo>
                    <a:lnTo>
                      <a:pt x="5137150" y="4970780"/>
                    </a:lnTo>
                    <a:cubicBezTo>
                      <a:pt x="5137150" y="4980940"/>
                      <a:pt x="5128260" y="4989830"/>
                      <a:pt x="5118100" y="4989830"/>
                    </a:cubicBezTo>
                    <a:lnTo>
                      <a:pt x="266700" y="4989830"/>
                    </a:lnTo>
                    <a:cubicBezTo>
                      <a:pt x="256540" y="4989830"/>
                      <a:pt x="247650" y="4980940"/>
                      <a:pt x="247650" y="4970780"/>
                    </a:cubicBezTo>
                    <a:lnTo>
                      <a:pt x="247650" y="314960"/>
                    </a:lnTo>
                    <a:cubicBezTo>
                      <a:pt x="247650" y="304800"/>
                      <a:pt x="256540" y="295910"/>
                      <a:pt x="266700" y="295910"/>
                    </a:cubicBezTo>
                    <a:lnTo>
                      <a:pt x="5118100" y="295910"/>
                    </a:lnTo>
                    <a:cubicBezTo>
                      <a:pt x="5129530" y="294640"/>
                      <a:pt x="5137150" y="303530"/>
                      <a:pt x="5137150" y="314960"/>
                    </a:cubicBezTo>
                    <a:close/>
                  </a:path>
                </a:pathLst>
              </a:custGeom>
              <a:solidFill>
                <a:srgbClr val="F2F1EB"/>
              </a:solidFill>
            </p:spPr>
          </p:sp>
          <p:sp>
            <p:nvSpPr>
              <p:cNvPr id="28" name="Freeform 14"/>
              <p:cNvSpPr/>
              <p:nvPr/>
            </p:nvSpPr>
            <p:spPr>
              <a:xfrm>
                <a:off x="247650" y="294640"/>
                <a:ext cx="4889500" cy="4693920"/>
              </a:xfrm>
              <a:custGeom>
                <a:avLst/>
                <a:gdLst/>
                <a:ahLst/>
                <a:cxnLst/>
                <a:rect l="l" t="t" r="r" b="b"/>
                <a:pathLst>
                  <a:path w="4889500" h="4693920">
                    <a:moveTo>
                      <a:pt x="4870450" y="0"/>
                    </a:moveTo>
                    <a:lnTo>
                      <a:pt x="19050" y="0"/>
                    </a:lnTo>
                    <a:cubicBezTo>
                      <a:pt x="8890" y="0"/>
                      <a:pt x="0" y="8890"/>
                      <a:pt x="0" y="19050"/>
                    </a:cubicBezTo>
                    <a:lnTo>
                      <a:pt x="0" y="4674870"/>
                    </a:lnTo>
                    <a:cubicBezTo>
                      <a:pt x="0" y="4686300"/>
                      <a:pt x="8890" y="4693920"/>
                      <a:pt x="19050" y="4693920"/>
                    </a:cubicBezTo>
                    <a:lnTo>
                      <a:pt x="4870450" y="4693920"/>
                    </a:lnTo>
                    <a:cubicBezTo>
                      <a:pt x="4880610" y="4693920"/>
                      <a:pt x="4889500" y="4685030"/>
                      <a:pt x="4889500" y="4674870"/>
                    </a:cubicBezTo>
                    <a:lnTo>
                      <a:pt x="4889500" y="20320"/>
                    </a:lnTo>
                    <a:cubicBezTo>
                      <a:pt x="4889500" y="8890"/>
                      <a:pt x="4881880" y="0"/>
                      <a:pt x="4870450" y="0"/>
                    </a:cubicBezTo>
                    <a:close/>
                  </a:path>
                </a:pathLst>
              </a:custGeom>
              <a:blipFill>
                <a:blip r:embed="rId12"/>
                <a:stretch>
                  <a:fillRect l="-140472" t="-17123" r="-20734" b="-64497"/>
                </a:stretch>
              </a:blipFill>
            </p:spPr>
          </p:sp>
          <p:sp>
            <p:nvSpPr>
              <p:cNvPr id="29" name="Freeform 15"/>
              <p:cNvSpPr/>
              <p:nvPr/>
            </p:nvSpPr>
            <p:spPr>
              <a:xfrm>
                <a:off x="1270" y="6350"/>
                <a:ext cx="5457190" cy="6342380"/>
              </a:xfrm>
              <a:custGeom>
                <a:avLst/>
                <a:gdLst/>
                <a:ahLst/>
                <a:cxnLst/>
                <a:rect l="l" t="t" r="r" b="b"/>
                <a:pathLst>
                  <a:path w="5457190" h="6342380">
                    <a:moveTo>
                      <a:pt x="5137150" y="302260"/>
                    </a:moveTo>
                    <a:cubicBezTo>
                      <a:pt x="5137150" y="302260"/>
                      <a:pt x="5133340" y="290830"/>
                      <a:pt x="5119370" y="289560"/>
                    </a:cubicBezTo>
                    <a:lnTo>
                      <a:pt x="248920" y="289560"/>
                    </a:lnTo>
                    <a:cubicBezTo>
                      <a:pt x="240030" y="289560"/>
                      <a:pt x="228600" y="293370"/>
                      <a:pt x="228600" y="303530"/>
                    </a:cubicBezTo>
                    <a:lnTo>
                      <a:pt x="232410" y="312420"/>
                    </a:lnTo>
                    <a:cubicBezTo>
                      <a:pt x="236220" y="307340"/>
                      <a:pt x="242570" y="304800"/>
                      <a:pt x="248920" y="304800"/>
                    </a:cubicBezTo>
                    <a:lnTo>
                      <a:pt x="5123180" y="304800"/>
                    </a:lnTo>
                    <a:lnTo>
                      <a:pt x="5123180" y="4966970"/>
                    </a:lnTo>
                    <a:cubicBezTo>
                      <a:pt x="5123180" y="4973320"/>
                      <a:pt x="5120640" y="4979670"/>
                      <a:pt x="5115560" y="4983480"/>
                    </a:cubicBezTo>
                    <a:lnTo>
                      <a:pt x="5120640" y="4983480"/>
                    </a:lnTo>
                    <a:cubicBezTo>
                      <a:pt x="5129530" y="4983480"/>
                      <a:pt x="5137150" y="4975860"/>
                      <a:pt x="5137150" y="4966970"/>
                    </a:cubicBezTo>
                    <a:lnTo>
                      <a:pt x="5137150" y="302260"/>
                    </a:lnTo>
                    <a:close/>
                    <a:moveTo>
                      <a:pt x="5438140" y="6324600"/>
                    </a:moveTo>
                    <a:lnTo>
                      <a:pt x="20320" y="6324600"/>
                    </a:lnTo>
                    <a:lnTo>
                      <a:pt x="20320" y="12700"/>
                    </a:lnTo>
                    <a:lnTo>
                      <a:pt x="6350" y="0"/>
                    </a:lnTo>
                    <a:lnTo>
                      <a:pt x="5080" y="0"/>
                    </a:lnTo>
                    <a:cubicBezTo>
                      <a:pt x="2540" y="3810"/>
                      <a:pt x="0" y="7620"/>
                      <a:pt x="0" y="12700"/>
                    </a:cubicBezTo>
                    <a:lnTo>
                      <a:pt x="0" y="6323330"/>
                    </a:lnTo>
                    <a:cubicBezTo>
                      <a:pt x="0" y="6334760"/>
                      <a:pt x="8890" y="6342380"/>
                      <a:pt x="19050" y="6342380"/>
                    </a:cubicBezTo>
                    <a:lnTo>
                      <a:pt x="5444490" y="6342380"/>
                    </a:lnTo>
                    <a:cubicBezTo>
                      <a:pt x="5449570" y="6342380"/>
                      <a:pt x="5453380" y="6341110"/>
                      <a:pt x="5457190" y="6337300"/>
                    </a:cubicBezTo>
                    <a:lnTo>
                      <a:pt x="5438140" y="6324600"/>
                    </a:lnTo>
                    <a:close/>
                  </a:path>
                </a:pathLst>
              </a:custGeom>
              <a:solidFill>
                <a:srgbClr val="3C3333"/>
              </a:solidFill>
            </p:spPr>
          </p:sp>
          <p:sp>
            <p:nvSpPr>
              <p:cNvPr id="30" name="Freeform 16"/>
              <p:cNvSpPr/>
              <p:nvPr/>
            </p:nvSpPr>
            <p:spPr>
              <a:xfrm>
                <a:off x="7620" y="0"/>
                <a:ext cx="5458460" cy="6344920"/>
              </a:xfrm>
              <a:custGeom>
                <a:avLst/>
                <a:gdLst/>
                <a:ahLst/>
                <a:cxnLst/>
                <a:rect l="l" t="t" r="r" b="b"/>
                <a:pathLst>
                  <a:path w="5458460" h="6344920">
                    <a:moveTo>
                      <a:pt x="5125720" y="4987290"/>
                    </a:moveTo>
                    <a:cubicBezTo>
                      <a:pt x="5121910" y="4992370"/>
                      <a:pt x="5116830" y="4994910"/>
                      <a:pt x="5110480" y="4994910"/>
                    </a:cubicBezTo>
                    <a:lnTo>
                      <a:pt x="243840" y="4994910"/>
                    </a:lnTo>
                    <a:cubicBezTo>
                      <a:pt x="237490" y="4994910"/>
                      <a:pt x="231140" y="4992370"/>
                      <a:pt x="227330" y="4986020"/>
                    </a:cubicBezTo>
                    <a:cubicBezTo>
                      <a:pt x="222250" y="4982210"/>
                      <a:pt x="219710" y="4977130"/>
                      <a:pt x="219710" y="4970780"/>
                    </a:cubicBezTo>
                    <a:lnTo>
                      <a:pt x="219710" y="314960"/>
                    </a:lnTo>
                    <a:cubicBezTo>
                      <a:pt x="219710" y="309880"/>
                      <a:pt x="222250" y="304800"/>
                      <a:pt x="226060" y="300990"/>
                    </a:cubicBezTo>
                    <a:lnTo>
                      <a:pt x="240030" y="311150"/>
                    </a:lnTo>
                    <a:lnTo>
                      <a:pt x="240030" y="4975860"/>
                    </a:lnTo>
                    <a:lnTo>
                      <a:pt x="5110480" y="4975860"/>
                    </a:lnTo>
                    <a:cubicBezTo>
                      <a:pt x="5113020" y="4975860"/>
                      <a:pt x="5115560" y="4974590"/>
                      <a:pt x="5116830" y="4974590"/>
                    </a:cubicBezTo>
                    <a:lnTo>
                      <a:pt x="5125720" y="4987290"/>
                    </a:lnTo>
                    <a:close/>
                    <a:moveTo>
                      <a:pt x="5458460" y="19050"/>
                    </a:moveTo>
                    <a:lnTo>
                      <a:pt x="5458460" y="6330950"/>
                    </a:lnTo>
                    <a:cubicBezTo>
                      <a:pt x="5458460" y="6336030"/>
                      <a:pt x="5455920" y="6341110"/>
                      <a:pt x="5450840" y="6344920"/>
                    </a:cubicBezTo>
                    <a:lnTo>
                      <a:pt x="5429250" y="6329680"/>
                    </a:lnTo>
                    <a:lnTo>
                      <a:pt x="5429250" y="20320"/>
                    </a:lnTo>
                    <a:lnTo>
                      <a:pt x="13970" y="20320"/>
                    </a:lnTo>
                    <a:lnTo>
                      <a:pt x="0" y="7620"/>
                    </a:lnTo>
                    <a:cubicBezTo>
                      <a:pt x="3810" y="2540"/>
                      <a:pt x="8890" y="0"/>
                      <a:pt x="15240" y="0"/>
                    </a:cubicBezTo>
                    <a:lnTo>
                      <a:pt x="5439410" y="0"/>
                    </a:lnTo>
                    <a:cubicBezTo>
                      <a:pt x="5449570" y="0"/>
                      <a:pt x="5458460" y="8890"/>
                      <a:pt x="5458460" y="19050"/>
                    </a:cubicBezTo>
                    <a:close/>
                    <a:moveTo>
                      <a:pt x="5455920" y="30480"/>
                    </a:moveTo>
                    <a:cubicBezTo>
                      <a:pt x="5453380" y="26670"/>
                      <a:pt x="5450840" y="24130"/>
                      <a:pt x="5447030" y="21590"/>
                    </a:cubicBezTo>
                    <a:lnTo>
                      <a:pt x="5455920" y="304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pic>
          <p:nvPicPr>
            <p:cNvPr id="31" name="Picture 30"/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65" b="-419"/>
            <a:stretch/>
          </p:blipFill>
          <p:spPr>
            <a:xfrm rot="476239">
              <a:off x="9116226" y="4903148"/>
              <a:ext cx="4674443" cy="4440393"/>
            </a:xfrm>
            <a:prstGeom prst="rect">
              <a:avLst/>
            </a:prstGeom>
          </p:spPr>
        </p:pic>
      </p:grpSp>
      <p:grpSp>
        <p:nvGrpSpPr>
          <p:cNvPr id="41" name="Group 40"/>
          <p:cNvGrpSpPr/>
          <p:nvPr/>
        </p:nvGrpSpPr>
        <p:grpSpPr>
          <a:xfrm rot="21105872">
            <a:off x="8897068" y="3477060"/>
            <a:ext cx="5838726" cy="6717696"/>
            <a:chOff x="12967176" y="-374840"/>
            <a:chExt cx="5838726" cy="6717696"/>
          </a:xfrm>
        </p:grpSpPr>
        <p:grpSp>
          <p:nvGrpSpPr>
            <p:cNvPr id="33" name="Group 5"/>
            <p:cNvGrpSpPr/>
            <p:nvPr/>
          </p:nvGrpSpPr>
          <p:grpSpPr>
            <a:xfrm>
              <a:off x="12967176" y="-374840"/>
              <a:ext cx="5838726" cy="6717696"/>
              <a:chOff x="0" y="0"/>
              <a:chExt cx="7784968" cy="8956928"/>
            </a:xfrm>
          </p:grpSpPr>
          <p:sp>
            <p:nvSpPr>
              <p:cNvPr id="34" name="Freeform 6"/>
              <p:cNvSpPr/>
              <p:nvPr/>
            </p:nvSpPr>
            <p:spPr>
              <a:xfrm rot="-475827">
                <a:off x="2323354" y="7595386"/>
                <a:ext cx="5127425" cy="1012666"/>
              </a:xfrm>
              <a:custGeom>
                <a:avLst/>
                <a:gdLst/>
                <a:ahLst/>
                <a:cxnLst/>
                <a:rect l="l" t="t" r="r" b="b"/>
                <a:pathLst>
                  <a:path w="5127425" h="1012666">
                    <a:moveTo>
                      <a:pt x="0" y="0"/>
                    </a:moveTo>
                    <a:lnTo>
                      <a:pt x="5127425" y="0"/>
                    </a:lnTo>
                    <a:lnTo>
                      <a:pt x="5127425" y="1012666"/>
                    </a:lnTo>
                    <a:lnTo>
                      <a:pt x="0" y="101266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/>
                </a:stretch>
              </a:blipFill>
            </p:spPr>
          </p:sp>
          <p:grpSp>
            <p:nvGrpSpPr>
              <p:cNvPr id="35" name="Group 7"/>
              <p:cNvGrpSpPr>
                <a:grpSpLocks noChangeAspect="1"/>
              </p:cNvGrpSpPr>
              <p:nvPr/>
            </p:nvGrpSpPr>
            <p:grpSpPr>
              <a:xfrm rot="-494988">
                <a:off x="526287" y="442546"/>
                <a:ext cx="6732393" cy="7821089"/>
                <a:chOff x="0" y="0"/>
                <a:chExt cx="5466080" cy="6350000"/>
              </a:xfrm>
            </p:grpSpPr>
            <p:sp>
              <p:nvSpPr>
                <p:cNvPr id="36" name="Freeform 8"/>
                <p:cNvSpPr/>
                <p:nvPr/>
              </p:nvSpPr>
              <p:spPr>
                <a:xfrm>
                  <a:off x="0" y="0"/>
                  <a:ext cx="5439410" cy="63487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39410" h="6348730">
                      <a:moveTo>
                        <a:pt x="5419090" y="0"/>
                      </a:moveTo>
                      <a:lnTo>
                        <a:pt x="19050" y="0"/>
                      </a:lnTo>
                      <a:cubicBezTo>
                        <a:pt x="8890" y="0"/>
                        <a:pt x="0" y="8890"/>
                        <a:pt x="0" y="20320"/>
                      </a:cubicBezTo>
                      <a:lnTo>
                        <a:pt x="0" y="6329680"/>
                      </a:lnTo>
                      <a:cubicBezTo>
                        <a:pt x="0" y="6339840"/>
                        <a:pt x="8890" y="6348730"/>
                        <a:pt x="19050" y="6348730"/>
                      </a:cubicBezTo>
                      <a:lnTo>
                        <a:pt x="5419090" y="6348730"/>
                      </a:lnTo>
                      <a:cubicBezTo>
                        <a:pt x="5429250" y="6348730"/>
                        <a:pt x="5438140" y="6339840"/>
                        <a:pt x="5438140" y="6329680"/>
                      </a:cubicBezTo>
                      <a:lnTo>
                        <a:pt x="5438140" y="20320"/>
                      </a:lnTo>
                      <a:cubicBezTo>
                        <a:pt x="5439410" y="8890"/>
                        <a:pt x="5430520" y="0"/>
                        <a:pt x="5419090" y="0"/>
                      </a:cubicBezTo>
                      <a:close/>
                      <a:moveTo>
                        <a:pt x="5137150" y="314960"/>
                      </a:moveTo>
                      <a:lnTo>
                        <a:pt x="5137150" y="4970780"/>
                      </a:lnTo>
                      <a:cubicBezTo>
                        <a:pt x="5137150" y="4980940"/>
                        <a:pt x="5128260" y="4989830"/>
                        <a:pt x="5118100" y="4989830"/>
                      </a:cubicBezTo>
                      <a:lnTo>
                        <a:pt x="266700" y="4989830"/>
                      </a:lnTo>
                      <a:cubicBezTo>
                        <a:pt x="256540" y="4989830"/>
                        <a:pt x="247650" y="4980940"/>
                        <a:pt x="247650" y="4970780"/>
                      </a:cubicBezTo>
                      <a:lnTo>
                        <a:pt x="247650" y="314960"/>
                      </a:lnTo>
                      <a:cubicBezTo>
                        <a:pt x="247650" y="304800"/>
                        <a:pt x="256540" y="295910"/>
                        <a:pt x="266700" y="295910"/>
                      </a:cubicBezTo>
                      <a:lnTo>
                        <a:pt x="5118100" y="295910"/>
                      </a:lnTo>
                      <a:cubicBezTo>
                        <a:pt x="5129530" y="294640"/>
                        <a:pt x="5137150" y="303530"/>
                        <a:pt x="5137150" y="314960"/>
                      </a:cubicBezTo>
                      <a:close/>
                    </a:path>
                  </a:pathLst>
                </a:custGeom>
                <a:solidFill>
                  <a:srgbClr val="F2F1EB"/>
                </a:solidFill>
              </p:spPr>
            </p:sp>
            <p:sp>
              <p:nvSpPr>
                <p:cNvPr id="37" name="Freeform 9"/>
                <p:cNvSpPr/>
                <p:nvPr/>
              </p:nvSpPr>
              <p:spPr>
                <a:xfrm>
                  <a:off x="247650" y="294640"/>
                  <a:ext cx="4889500" cy="4693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9500" h="4693920">
                      <a:moveTo>
                        <a:pt x="4870450" y="0"/>
                      </a:moveTo>
                      <a:lnTo>
                        <a:pt x="19050" y="0"/>
                      </a:lnTo>
                      <a:cubicBezTo>
                        <a:pt x="8890" y="0"/>
                        <a:pt x="0" y="8890"/>
                        <a:pt x="0" y="19050"/>
                      </a:cubicBezTo>
                      <a:lnTo>
                        <a:pt x="0" y="4674870"/>
                      </a:lnTo>
                      <a:cubicBezTo>
                        <a:pt x="0" y="4686300"/>
                        <a:pt x="8890" y="4693920"/>
                        <a:pt x="19050" y="4693920"/>
                      </a:cubicBezTo>
                      <a:lnTo>
                        <a:pt x="4870450" y="4693920"/>
                      </a:lnTo>
                      <a:cubicBezTo>
                        <a:pt x="4880610" y="4693920"/>
                        <a:pt x="4889500" y="4685030"/>
                        <a:pt x="4889500" y="4674870"/>
                      </a:cubicBezTo>
                      <a:lnTo>
                        <a:pt x="4889500" y="20320"/>
                      </a:lnTo>
                      <a:cubicBezTo>
                        <a:pt x="4889500" y="8890"/>
                        <a:pt x="4881880" y="0"/>
                        <a:pt x="4870450" y="0"/>
                      </a:cubicBezTo>
                      <a:close/>
                    </a:path>
                  </a:pathLst>
                </a:custGeom>
                <a:blipFill>
                  <a:blip r:embed="rId15"/>
                  <a:stretch>
                    <a:fillRect l="-8477" t="-7895" r="-3942" b="-57621"/>
                  </a:stretch>
                </a:blipFill>
              </p:spPr>
            </p:sp>
            <p:sp>
              <p:nvSpPr>
                <p:cNvPr id="38" name="Freeform 10"/>
                <p:cNvSpPr/>
                <p:nvPr/>
              </p:nvSpPr>
              <p:spPr>
                <a:xfrm>
                  <a:off x="1270" y="6350"/>
                  <a:ext cx="5457190" cy="634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7190" h="6342380">
                      <a:moveTo>
                        <a:pt x="5137150" y="302260"/>
                      </a:moveTo>
                      <a:cubicBezTo>
                        <a:pt x="5137150" y="302260"/>
                        <a:pt x="5133340" y="290830"/>
                        <a:pt x="5119370" y="289560"/>
                      </a:cubicBezTo>
                      <a:lnTo>
                        <a:pt x="248920" y="289560"/>
                      </a:lnTo>
                      <a:cubicBezTo>
                        <a:pt x="240030" y="289560"/>
                        <a:pt x="228600" y="293370"/>
                        <a:pt x="228600" y="303530"/>
                      </a:cubicBezTo>
                      <a:lnTo>
                        <a:pt x="232410" y="312420"/>
                      </a:lnTo>
                      <a:cubicBezTo>
                        <a:pt x="236220" y="307340"/>
                        <a:pt x="242570" y="304800"/>
                        <a:pt x="248920" y="304800"/>
                      </a:cubicBezTo>
                      <a:lnTo>
                        <a:pt x="5123180" y="304800"/>
                      </a:lnTo>
                      <a:lnTo>
                        <a:pt x="5123180" y="4966970"/>
                      </a:lnTo>
                      <a:cubicBezTo>
                        <a:pt x="5123180" y="4973320"/>
                        <a:pt x="5120640" y="4979670"/>
                        <a:pt x="5115560" y="4983480"/>
                      </a:cubicBezTo>
                      <a:lnTo>
                        <a:pt x="5120640" y="4983480"/>
                      </a:lnTo>
                      <a:cubicBezTo>
                        <a:pt x="5129530" y="4983480"/>
                        <a:pt x="5137150" y="4975860"/>
                        <a:pt x="5137150" y="4966970"/>
                      </a:cubicBezTo>
                      <a:lnTo>
                        <a:pt x="5137150" y="302260"/>
                      </a:lnTo>
                      <a:close/>
                      <a:moveTo>
                        <a:pt x="5438140" y="6324600"/>
                      </a:moveTo>
                      <a:lnTo>
                        <a:pt x="20320" y="6324600"/>
                      </a:lnTo>
                      <a:lnTo>
                        <a:pt x="20320" y="12700"/>
                      </a:lnTo>
                      <a:lnTo>
                        <a:pt x="6350" y="0"/>
                      </a:lnTo>
                      <a:lnTo>
                        <a:pt x="5080" y="0"/>
                      </a:lnTo>
                      <a:cubicBezTo>
                        <a:pt x="2540" y="3810"/>
                        <a:pt x="0" y="7620"/>
                        <a:pt x="0" y="12700"/>
                      </a:cubicBezTo>
                      <a:lnTo>
                        <a:pt x="0" y="6323330"/>
                      </a:lnTo>
                      <a:cubicBezTo>
                        <a:pt x="0" y="6334760"/>
                        <a:pt x="8890" y="6342380"/>
                        <a:pt x="19050" y="6342380"/>
                      </a:cubicBezTo>
                      <a:lnTo>
                        <a:pt x="5444490" y="6342380"/>
                      </a:lnTo>
                      <a:cubicBezTo>
                        <a:pt x="5449570" y="6342380"/>
                        <a:pt x="5453380" y="6341110"/>
                        <a:pt x="5457190" y="6337300"/>
                      </a:cubicBezTo>
                      <a:lnTo>
                        <a:pt x="5438140" y="6324600"/>
                      </a:lnTo>
                      <a:close/>
                    </a:path>
                  </a:pathLst>
                </a:custGeom>
                <a:solidFill>
                  <a:srgbClr val="3C3333"/>
                </a:solidFill>
              </p:spPr>
            </p:sp>
            <p:sp>
              <p:nvSpPr>
                <p:cNvPr id="39" name="Freeform 11"/>
                <p:cNvSpPr/>
                <p:nvPr/>
              </p:nvSpPr>
              <p:spPr>
                <a:xfrm>
                  <a:off x="7620" y="0"/>
                  <a:ext cx="5458460" cy="6344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8460" h="6344920">
                      <a:moveTo>
                        <a:pt x="5125720" y="4987290"/>
                      </a:moveTo>
                      <a:cubicBezTo>
                        <a:pt x="5121910" y="4992370"/>
                        <a:pt x="5116830" y="4994910"/>
                        <a:pt x="5110480" y="4994910"/>
                      </a:cubicBezTo>
                      <a:lnTo>
                        <a:pt x="243840" y="4994910"/>
                      </a:lnTo>
                      <a:cubicBezTo>
                        <a:pt x="237490" y="4994910"/>
                        <a:pt x="231140" y="4992370"/>
                        <a:pt x="227330" y="4986020"/>
                      </a:cubicBezTo>
                      <a:cubicBezTo>
                        <a:pt x="222250" y="4982210"/>
                        <a:pt x="219710" y="4977130"/>
                        <a:pt x="219710" y="4970780"/>
                      </a:cubicBezTo>
                      <a:lnTo>
                        <a:pt x="219710" y="314960"/>
                      </a:lnTo>
                      <a:cubicBezTo>
                        <a:pt x="219710" y="309880"/>
                        <a:pt x="222250" y="304800"/>
                        <a:pt x="226060" y="300990"/>
                      </a:cubicBezTo>
                      <a:lnTo>
                        <a:pt x="240030" y="311150"/>
                      </a:lnTo>
                      <a:lnTo>
                        <a:pt x="240030" y="4975860"/>
                      </a:lnTo>
                      <a:lnTo>
                        <a:pt x="5110480" y="4975860"/>
                      </a:lnTo>
                      <a:cubicBezTo>
                        <a:pt x="5113020" y="4975860"/>
                        <a:pt x="5115560" y="4974590"/>
                        <a:pt x="5116830" y="4974590"/>
                      </a:cubicBezTo>
                      <a:lnTo>
                        <a:pt x="5125720" y="4987290"/>
                      </a:lnTo>
                      <a:close/>
                      <a:moveTo>
                        <a:pt x="5458460" y="19050"/>
                      </a:moveTo>
                      <a:lnTo>
                        <a:pt x="5458460" y="6330950"/>
                      </a:lnTo>
                      <a:cubicBezTo>
                        <a:pt x="5458460" y="6336030"/>
                        <a:pt x="5455920" y="6341110"/>
                        <a:pt x="5450840" y="6344920"/>
                      </a:cubicBezTo>
                      <a:lnTo>
                        <a:pt x="5429250" y="6329680"/>
                      </a:lnTo>
                      <a:lnTo>
                        <a:pt x="5429250" y="20320"/>
                      </a:lnTo>
                      <a:lnTo>
                        <a:pt x="13970" y="20320"/>
                      </a:lnTo>
                      <a:lnTo>
                        <a:pt x="0" y="7620"/>
                      </a:lnTo>
                      <a:cubicBezTo>
                        <a:pt x="3810" y="2540"/>
                        <a:pt x="8890" y="0"/>
                        <a:pt x="15240" y="0"/>
                      </a:cubicBezTo>
                      <a:lnTo>
                        <a:pt x="5439410" y="0"/>
                      </a:lnTo>
                      <a:cubicBezTo>
                        <a:pt x="5449570" y="0"/>
                        <a:pt x="5458460" y="8890"/>
                        <a:pt x="5458460" y="19050"/>
                      </a:cubicBezTo>
                      <a:close/>
                      <a:moveTo>
                        <a:pt x="5455920" y="30480"/>
                      </a:moveTo>
                      <a:cubicBezTo>
                        <a:pt x="5453380" y="26670"/>
                        <a:pt x="5450840" y="24130"/>
                        <a:pt x="5447030" y="21590"/>
                      </a:cubicBezTo>
                      <a:lnTo>
                        <a:pt x="5455920" y="3048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</p:sp>
          </p:grpSp>
        </p:grpSp>
        <p:pic>
          <p:nvPicPr>
            <p:cNvPr id="40" name="Picture 39"/>
            <p:cNvPicPr>
              <a:picLocks noChangeAspect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8" t="-34" r="-448" b="23607"/>
            <a:stretch/>
          </p:blipFill>
          <p:spPr>
            <a:xfrm rot="21100837">
              <a:off x="13524644" y="219642"/>
              <a:ext cx="4556904" cy="436781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7261" y="2708026"/>
            <a:ext cx="16333477" cy="7159874"/>
          </a:xfrm>
          <a:custGeom>
            <a:avLst/>
            <a:gdLst/>
            <a:ahLst/>
            <a:cxnLst/>
            <a:rect l="l" t="t" r="r" b="b"/>
            <a:pathLst>
              <a:path w="7189477" h="5321547">
                <a:moveTo>
                  <a:pt x="0" y="0"/>
                </a:moveTo>
                <a:lnTo>
                  <a:pt x="7189477" y="0"/>
                </a:lnTo>
                <a:lnTo>
                  <a:pt x="7189477" y="5321547"/>
                </a:lnTo>
                <a:lnTo>
                  <a:pt x="0" y="5321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12362" y="2708026"/>
            <a:ext cx="736079" cy="734827"/>
          </a:xfrm>
          <a:custGeom>
            <a:avLst/>
            <a:gdLst/>
            <a:ahLst/>
            <a:cxnLst/>
            <a:rect l="l" t="t" r="r" b="b"/>
            <a:pathLst>
              <a:path w="736079" h="734827">
                <a:moveTo>
                  <a:pt x="0" y="0"/>
                </a:moveTo>
                <a:lnTo>
                  <a:pt x="736079" y="0"/>
                </a:lnTo>
                <a:lnTo>
                  <a:pt x="736079" y="734827"/>
                </a:lnTo>
                <a:lnTo>
                  <a:pt x="0" y="734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29631">
            <a:off x="3678240" y="3078978"/>
            <a:ext cx="3710454" cy="1016872"/>
          </a:xfrm>
          <a:custGeom>
            <a:avLst/>
            <a:gdLst/>
            <a:ahLst/>
            <a:cxnLst/>
            <a:rect l="l" t="t" r="r" b="b"/>
            <a:pathLst>
              <a:path w="4620611" h="1318974">
                <a:moveTo>
                  <a:pt x="0" y="0"/>
                </a:moveTo>
                <a:lnTo>
                  <a:pt x="4620611" y="0"/>
                </a:lnTo>
                <a:lnTo>
                  <a:pt x="4620611" y="1318974"/>
                </a:lnTo>
                <a:lnTo>
                  <a:pt x="0" y="13189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24554" y="722084"/>
            <a:ext cx="1687808" cy="2163857"/>
          </a:xfrm>
          <a:custGeom>
            <a:avLst/>
            <a:gdLst/>
            <a:ahLst/>
            <a:cxnLst/>
            <a:rect l="l" t="t" r="r" b="b"/>
            <a:pathLst>
              <a:path w="1687808" h="2163857">
                <a:moveTo>
                  <a:pt x="0" y="0"/>
                </a:moveTo>
                <a:lnTo>
                  <a:pt x="1687808" y="0"/>
                </a:lnTo>
                <a:lnTo>
                  <a:pt x="1687808" y="2163857"/>
                </a:lnTo>
                <a:lnTo>
                  <a:pt x="0" y="21638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062918" y="1441203"/>
            <a:ext cx="1200773" cy="2057400"/>
          </a:xfrm>
          <a:custGeom>
            <a:avLst/>
            <a:gdLst/>
            <a:ahLst/>
            <a:cxnLst/>
            <a:rect l="l" t="t" r="r" b="b"/>
            <a:pathLst>
              <a:path w="1200773" h="2057400">
                <a:moveTo>
                  <a:pt x="0" y="0"/>
                </a:moveTo>
                <a:lnTo>
                  <a:pt x="1200774" y="0"/>
                </a:lnTo>
                <a:lnTo>
                  <a:pt x="12007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62200" y="135395"/>
            <a:ext cx="13925345" cy="2187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48"/>
              </a:lnSpc>
              <a:spcBef>
                <a:spcPct val="0"/>
              </a:spcBef>
            </a:pPr>
            <a:r>
              <a:rPr lang="ro-RO" sz="13677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Implementare</a:t>
            </a:r>
            <a:endParaRPr lang="en-US" sz="13677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100772" y="5921884"/>
            <a:ext cx="5417116" cy="43601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2"/>
              </a:lnSpc>
            </a:pPr>
            <a:endParaRPr lang="en-US" sz="2574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15" name="TextBox 19"/>
          <p:cNvSpPr txBox="1"/>
          <p:nvPr/>
        </p:nvSpPr>
        <p:spPr>
          <a:xfrm rot="30344">
            <a:off x="4573946" y="3450599"/>
            <a:ext cx="17570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en-US" sz="48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Python</a:t>
            </a:r>
            <a:endParaRPr lang="ro-RO" sz="4800" dirty="0" smtClean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16" name="TextBox 19"/>
          <p:cNvSpPr txBox="1"/>
          <p:nvPr/>
        </p:nvSpPr>
        <p:spPr>
          <a:xfrm rot="30344">
            <a:off x="3510870" y="4352383"/>
            <a:ext cx="13707880" cy="4488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În codul Python am efectuat procesul de analiză și procesarea recenziilor textuale.</a:t>
            </a:r>
          </a:p>
          <a:p>
            <a:pPr marL="457200" indent="-457200">
              <a:lnSpc>
                <a:spcPts val="3536"/>
              </a:lnSpc>
              <a:buFont typeface="Arial" panose="020B0604020202020204" pitchFamily="34" charset="0"/>
              <a:buChar char="•"/>
            </a:pP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Bibliotecile utilizate:</a:t>
            </a:r>
            <a:endParaRPr lang="ro-RO" sz="2699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  <a:p>
            <a:pPr>
              <a:lnSpc>
                <a:spcPts val="3536"/>
              </a:lnSpc>
            </a:pP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	-</a:t>
            </a:r>
            <a:r>
              <a:rPr lang="ro-RO" sz="2699" b="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pandas: </a:t>
            </a: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pentru manipularea datelor în format tabelar (DataFrame</a:t>
            </a: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);</a:t>
            </a:r>
          </a:p>
          <a:p>
            <a:pPr>
              <a:lnSpc>
                <a:spcPts val="3536"/>
              </a:lnSpc>
            </a:pP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	- </a:t>
            </a:r>
            <a:r>
              <a:rPr lang="ro-RO" sz="2699" b="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json</a:t>
            </a: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: pentru citirea fișierelor </a:t>
            </a: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JSON;</a:t>
            </a:r>
          </a:p>
          <a:p>
            <a:pPr>
              <a:lnSpc>
                <a:spcPts val="3536"/>
              </a:lnSpc>
            </a:pP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	- </a:t>
            </a:r>
            <a:r>
              <a:rPr lang="ro-RO" sz="2699" b="1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matplotlib.pyplot</a:t>
            </a: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</a:t>
            </a: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și </a:t>
            </a:r>
            <a:r>
              <a:rPr lang="ro-RO" sz="2699" b="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seaborn</a:t>
            </a: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: pentru vizualizare </a:t>
            </a: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grafică;</a:t>
            </a:r>
          </a:p>
          <a:p>
            <a:pPr>
              <a:lnSpc>
                <a:spcPts val="3536"/>
              </a:lnSpc>
            </a:pP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	- </a:t>
            </a:r>
            <a:r>
              <a:rPr lang="ro-RO" sz="2699" b="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sklearn.feature_extraction.text.TfidfVectorizer</a:t>
            </a: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: pentru convertirea textului în vectori numerici folosind </a:t>
            </a: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TF-IDF;</a:t>
            </a:r>
          </a:p>
          <a:p>
            <a:pPr>
              <a:lnSpc>
                <a:spcPts val="3536"/>
              </a:lnSpc>
            </a:pP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	- </a:t>
            </a:r>
            <a:r>
              <a:rPr lang="ro-RO" sz="2699" b="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sklearn.metrics.pairwise.cosine_similarity</a:t>
            </a: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: pentru calcularea similarității între </a:t>
            </a: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recenzi;</a:t>
            </a:r>
          </a:p>
          <a:p>
            <a:pPr>
              <a:lnSpc>
                <a:spcPts val="3536"/>
              </a:lnSpc>
            </a:pP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	- </a:t>
            </a:r>
            <a:r>
              <a:rPr lang="ro-RO" sz="2699" b="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numpy</a:t>
            </a: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: pentru operații </a:t>
            </a: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numerice;</a:t>
            </a:r>
          </a:p>
          <a:p>
            <a:pPr>
              <a:lnSpc>
                <a:spcPts val="3536"/>
              </a:lnSpc>
            </a:pP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	-</a:t>
            </a:r>
            <a:r>
              <a:rPr lang="ro-RO" sz="2699" b="1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 textblob</a:t>
            </a: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: pentru analiza </a:t>
            </a: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sentimentelor.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7261" y="2708026"/>
            <a:ext cx="16333477" cy="7159874"/>
          </a:xfrm>
          <a:custGeom>
            <a:avLst/>
            <a:gdLst/>
            <a:ahLst/>
            <a:cxnLst/>
            <a:rect l="l" t="t" r="r" b="b"/>
            <a:pathLst>
              <a:path w="7189477" h="5321547">
                <a:moveTo>
                  <a:pt x="0" y="0"/>
                </a:moveTo>
                <a:lnTo>
                  <a:pt x="7189477" y="0"/>
                </a:lnTo>
                <a:lnTo>
                  <a:pt x="7189477" y="5321547"/>
                </a:lnTo>
                <a:lnTo>
                  <a:pt x="0" y="5321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12362" y="2708026"/>
            <a:ext cx="736079" cy="734827"/>
          </a:xfrm>
          <a:custGeom>
            <a:avLst/>
            <a:gdLst/>
            <a:ahLst/>
            <a:cxnLst/>
            <a:rect l="l" t="t" r="r" b="b"/>
            <a:pathLst>
              <a:path w="736079" h="734827">
                <a:moveTo>
                  <a:pt x="0" y="0"/>
                </a:moveTo>
                <a:lnTo>
                  <a:pt x="736079" y="0"/>
                </a:lnTo>
                <a:lnTo>
                  <a:pt x="736079" y="734827"/>
                </a:lnTo>
                <a:lnTo>
                  <a:pt x="0" y="734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29631">
            <a:off x="3678240" y="3078978"/>
            <a:ext cx="3710454" cy="1016872"/>
          </a:xfrm>
          <a:custGeom>
            <a:avLst/>
            <a:gdLst/>
            <a:ahLst/>
            <a:cxnLst/>
            <a:rect l="l" t="t" r="r" b="b"/>
            <a:pathLst>
              <a:path w="4620611" h="1318974">
                <a:moveTo>
                  <a:pt x="0" y="0"/>
                </a:moveTo>
                <a:lnTo>
                  <a:pt x="4620611" y="0"/>
                </a:lnTo>
                <a:lnTo>
                  <a:pt x="4620611" y="1318974"/>
                </a:lnTo>
                <a:lnTo>
                  <a:pt x="0" y="13189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24554" y="722084"/>
            <a:ext cx="1687808" cy="2163857"/>
          </a:xfrm>
          <a:custGeom>
            <a:avLst/>
            <a:gdLst/>
            <a:ahLst/>
            <a:cxnLst/>
            <a:rect l="l" t="t" r="r" b="b"/>
            <a:pathLst>
              <a:path w="1687808" h="2163857">
                <a:moveTo>
                  <a:pt x="0" y="0"/>
                </a:moveTo>
                <a:lnTo>
                  <a:pt x="1687808" y="0"/>
                </a:lnTo>
                <a:lnTo>
                  <a:pt x="1687808" y="2163857"/>
                </a:lnTo>
                <a:lnTo>
                  <a:pt x="0" y="21638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062918" y="1441203"/>
            <a:ext cx="1200773" cy="2057400"/>
          </a:xfrm>
          <a:custGeom>
            <a:avLst/>
            <a:gdLst/>
            <a:ahLst/>
            <a:cxnLst/>
            <a:rect l="l" t="t" r="r" b="b"/>
            <a:pathLst>
              <a:path w="1200773" h="2057400">
                <a:moveTo>
                  <a:pt x="0" y="0"/>
                </a:moveTo>
                <a:lnTo>
                  <a:pt x="1200774" y="0"/>
                </a:lnTo>
                <a:lnTo>
                  <a:pt x="12007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62200" y="135395"/>
            <a:ext cx="13925345" cy="2187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48"/>
              </a:lnSpc>
              <a:spcBef>
                <a:spcPct val="0"/>
              </a:spcBef>
            </a:pPr>
            <a:r>
              <a:rPr lang="ro-RO" sz="13677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Implementare</a:t>
            </a:r>
            <a:endParaRPr lang="en-US" sz="13677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100772" y="5921884"/>
            <a:ext cx="5417116" cy="43601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2"/>
              </a:lnSpc>
            </a:pPr>
            <a:endParaRPr lang="en-US" sz="2574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15" name="TextBox 19"/>
          <p:cNvSpPr txBox="1"/>
          <p:nvPr/>
        </p:nvSpPr>
        <p:spPr>
          <a:xfrm rot="30344">
            <a:off x="4573946" y="3450599"/>
            <a:ext cx="17570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en-US" sz="48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Python</a:t>
            </a:r>
            <a:endParaRPr lang="ro-RO" sz="4800" dirty="0" smtClean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16" name="TextBox 19"/>
          <p:cNvSpPr txBox="1"/>
          <p:nvPr/>
        </p:nvSpPr>
        <p:spPr>
          <a:xfrm rot="30344">
            <a:off x="3301926" y="4402901"/>
            <a:ext cx="13557923" cy="4937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536"/>
              </a:lnSpc>
              <a:buFont typeface="Arial" panose="020B0604020202020204" pitchFamily="34" charset="0"/>
              <a:buChar char="•"/>
            </a:pPr>
            <a:r>
              <a:rPr lang="ro-RO" sz="2699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Funcțiile utilizate:</a:t>
            </a:r>
            <a:endParaRPr lang="ro-RO" sz="2699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  <a:p>
            <a:pPr>
              <a:lnSpc>
                <a:spcPts val="3536"/>
              </a:lnSpc>
            </a:pPr>
            <a:r>
              <a:rPr lang="ro-RO" sz="2699" dirty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	</a:t>
            </a:r>
            <a:r>
              <a:rPr lang="ro-RO" sz="2699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- </a:t>
            </a:r>
            <a:r>
              <a:rPr lang="ro-RO" sz="2800" b="1" dirty="0">
                <a:latin typeface="Dekko" panose="020B0604020202020204" charset="-18"/>
                <a:cs typeface="Dekko" panose="020B0604020202020204" charset="-18"/>
              </a:rPr>
              <a:t>load_reviews_from_json(file_path</a:t>
            </a:r>
            <a:r>
              <a:rPr lang="ro-RO" sz="2800" b="1" dirty="0" smtClean="0">
                <a:latin typeface="Dekko" panose="020B0604020202020204" charset="-18"/>
                <a:cs typeface="Dekko" panose="020B0604020202020204" charset="-18"/>
              </a:rPr>
              <a:t>): </a:t>
            </a:r>
            <a:r>
              <a:rPr lang="ro-RO" sz="2800" dirty="0" smtClean="0">
                <a:latin typeface="Dekko" panose="020B0604020202020204" charset="-18"/>
                <a:cs typeface="Dekko" panose="020B0604020202020204" charset="-18"/>
              </a:rPr>
              <a:t>încarcă </a:t>
            </a:r>
            <a:r>
              <a:rPr lang="ro-RO" sz="2800" dirty="0">
                <a:latin typeface="Dekko" panose="020B0604020202020204" charset="-18"/>
                <a:cs typeface="Dekko" panose="020B0604020202020204" charset="-18"/>
              </a:rPr>
              <a:t>datele dintr-un fișier JSON și le returnează ca un DataFrame </a:t>
            </a:r>
            <a:r>
              <a:rPr lang="ro-RO" sz="2800" dirty="0" smtClean="0">
                <a:latin typeface="Dekko" panose="020B0604020202020204" charset="-18"/>
                <a:cs typeface="Dekko" panose="020B0604020202020204" charset="-18"/>
              </a:rPr>
              <a:t>Pandas. Gestionează erorile pentru: Fișiere</a:t>
            </a:r>
            <a:r>
              <a:rPr lang="en-US" sz="2800" dirty="0" smtClean="0">
                <a:latin typeface="Dekko" panose="020B0604020202020204" charset="-18"/>
                <a:cs typeface="Dekko" panose="020B0604020202020204" charset="-18"/>
              </a:rPr>
              <a:t> </a:t>
            </a:r>
            <a:r>
              <a:rPr lang="en-US" sz="2800" dirty="0">
                <a:latin typeface="Dekko" panose="020B0604020202020204" charset="-18"/>
                <a:cs typeface="Dekko" panose="020B0604020202020204" charset="-18"/>
              </a:rPr>
              <a:t>care nu </a:t>
            </a:r>
            <a:r>
              <a:rPr lang="ro-RO" sz="2800" dirty="0" smtClean="0">
                <a:latin typeface="Dekko" panose="020B0604020202020204" charset="-18"/>
                <a:cs typeface="Dekko" panose="020B0604020202020204" charset="-18"/>
              </a:rPr>
              <a:t>există</a:t>
            </a:r>
            <a:r>
              <a:rPr lang="en-US" sz="2800" dirty="0" smtClean="0">
                <a:latin typeface="Dekko" panose="020B0604020202020204" charset="-18"/>
                <a:cs typeface="Dekko" panose="020B0604020202020204" charset="-18"/>
              </a:rPr>
              <a:t> (</a:t>
            </a:r>
            <a:r>
              <a:rPr lang="ro-RO" sz="2800" dirty="0" smtClean="0">
                <a:latin typeface="Dekko" panose="020B0604020202020204" charset="-18"/>
                <a:cs typeface="Dekko" panose="020B0604020202020204" charset="-18"/>
              </a:rPr>
              <a:t>FileNotFoundError</a:t>
            </a:r>
            <a:r>
              <a:rPr lang="en-US" sz="2800" dirty="0" smtClean="0">
                <a:latin typeface="Dekko" panose="020B0604020202020204" charset="-18"/>
                <a:cs typeface="Dekko" panose="020B0604020202020204" charset="-18"/>
              </a:rPr>
              <a:t>)</a:t>
            </a:r>
            <a:r>
              <a:rPr lang="ro-RO" sz="2800" dirty="0" smtClean="0">
                <a:latin typeface="Dekko" panose="020B0604020202020204" charset="-18"/>
                <a:cs typeface="Dekko" panose="020B0604020202020204" charset="-18"/>
              </a:rPr>
              <a:t> </a:t>
            </a:r>
            <a:r>
              <a:rPr lang="ro-RO" sz="2800" dirty="0">
                <a:latin typeface="Dekko" panose="020B0604020202020204" charset="-18"/>
                <a:cs typeface="Dekko" panose="020B0604020202020204" charset="-18"/>
              </a:rPr>
              <a:t>și Fișiere JSON incorecte (JSONDecodeError</a:t>
            </a:r>
            <a:r>
              <a:rPr lang="ro-RO" sz="2800" dirty="0" smtClean="0">
                <a:latin typeface="Dekko" panose="020B0604020202020204" charset="-18"/>
                <a:cs typeface="Dekko" panose="020B0604020202020204" charset="-18"/>
              </a:rPr>
              <a:t>);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- </a:t>
            </a:r>
            <a:r>
              <a:rPr lang="ro-RO" sz="2800" b="1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analyze_sentiment(comment):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analizează sentimentul unui comentariu folosind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TextBlob. Astfel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, folsind polaritatea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sentiment.polarity calculată de TextBlop, recenziile sunt clasificate în 3 categorii: </a:t>
            </a:r>
          </a:p>
          <a:p>
            <a:pPr>
              <a:lnSpc>
                <a:spcPts val="3536"/>
              </a:lnSpc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 	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LOVE (polaritate &gt;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0.2);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	HATE (polaritate &lt; -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0.2);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NEUTRAL (</a:t>
            </a:r>
            <a:r>
              <a:rPr lang="it-IT" sz="2800" dirty="0">
                <a:latin typeface="Dekko" panose="020B0604020202020204" charset="-18"/>
                <a:cs typeface="Dekko" panose="020B0604020202020204" charset="-18"/>
              </a:rPr>
              <a:t>polaritate între -0.2 și 0.2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);</a:t>
            </a:r>
          </a:p>
          <a:p>
            <a:pPr>
              <a:lnSpc>
                <a:spcPts val="3536"/>
              </a:lnSpc>
            </a:pPr>
            <a:endParaRPr lang="ro-RO" sz="2800" b="1" dirty="0">
              <a:solidFill>
                <a:srgbClr val="000000"/>
              </a:solidFill>
              <a:latin typeface="Dekko" panose="020B0604020202020204" charset="-18"/>
              <a:ea typeface="Dekko"/>
              <a:cs typeface="Dekko" panose="020B0604020202020204" charset="-18"/>
              <a:sym typeface="Dekko"/>
            </a:endParaRPr>
          </a:p>
        </p:txBody>
      </p:sp>
    </p:spTree>
    <p:extLst>
      <p:ext uri="{BB962C8B-B14F-4D97-AF65-F5344CB8AC3E}">
        <p14:creationId xmlns:p14="http://schemas.microsoft.com/office/powerpoint/2010/main" val="3476339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7261" y="2708026"/>
            <a:ext cx="16333477" cy="7159874"/>
          </a:xfrm>
          <a:custGeom>
            <a:avLst/>
            <a:gdLst/>
            <a:ahLst/>
            <a:cxnLst/>
            <a:rect l="l" t="t" r="r" b="b"/>
            <a:pathLst>
              <a:path w="7189477" h="5321547">
                <a:moveTo>
                  <a:pt x="0" y="0"/>
                </a:moveTo>
                <a:lnTo>
                  <a:pt x="7189477" y="0"/>
                </a:lnTo>
                <a:lnTo>
                  <a:pt x="7189477" y="5321547"/>
                </a:lnTo>
                <a:lnTo>
                  <a:pt x="0" y="5321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12362" y="2708026"/>
            <a:ext cx="736079" cy="734827"/>
          </a:xfrm>
          <a:custGeom>
            <a:avLst/>
            <a:gdLst/>
            <a:ahLst/>
            <a:cxnLst/>
            <a:rect l="l" t="t" r="r" b="b"/>
            <a:pathLst>
              <a:path w="736079" h="734827">
                <a:moveTo>
                  <a:pt x="0" y="0"/>
                </a:moveTo>
                <a:lnTo>
                  <a:pt x="736079" y="0"/>
                </a:lnTo>
                <a:lnTo>
                  <a:pt x="736079" y="734827"/>
                </a:lnTo>
                <a:lnTo>
                  <a:pt x="0" y="734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29631">
            <a:off x="3678240" y="3078978"/>
            <a:ext cx="3710454" cy="1016872"/>
          </a:xfrm>
          <a:custGeom>
            <a:avLst/>
            <a:gdLst/>
            <a:ahLst/>
            <a:cxnLst/>
            <a:rect l="l" t="t" r="r" b="b"/>
            <a:pathLst>
              <a:path w="4620611" h="1318974">
                <a:moveTo>
                  <a:pt x="0" y="0"/>
                </a:moveTo>
                <a:lnTo>
                  <a:pt x="4620611" y="0"/>
                </a:lnTo>
                <a:lnTo>
                  <a:pt x="4620611" y="1318974"/>
                </a:lnTo>
                <a:lnTo>
                  <a:pt x="0" y="13189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24554" y="722084"/>
            <a:ext cx="1687808" cy="2163857"/>
          </a:xfrm>
          <a:custGeom>
            <a:avLst/>
            <a:gdLst/>
            <a:ahLst/>
            <a:cxnLst/>
            <a:rect l="l" t="t" r="r" b="b"/>
            <a:pathLst>
              <a:path w="1687808" h="2163857">
                <a:moveTo>
                  <a:pt x="0" y="0"/>
                </a:moveTo>
                <a:lnTo>
                  <a:pt x="1687808" y="0"/>
                </a:lnTo>
                <a:lnTo>
                  <a:pt x="1687808" y="2163857"/>
                </a:lnTo>
                <a:lnTo>
                  <a:pt x="0" y="21638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062918" y="1441203"/>
            <a:ext cx="1200773" cy="2057400"/>
          </a:xfrm>
          <a:custGeom>
            <a:avLst/>
            <a:gdLst/>
            <a:ahLst/>
            <a:cxnLst/>
            <a:rect l="l" t="t" r="r" b="b"/>
            <a:pathLst>
              <a:path w="1200773" h="2057400">
                <a:moveTo>
                  <a:pt x="0" y="0"/>
                </a:moveTo>
                <a:lnTo>
                  <a:pt x="1200774" y="0"/>
                </a:lnTo>
                <a:lnTo>
                  <a:pt x="12007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62200" y="135395"/>
            <a:ext cx="13925345" cy="2187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48"/>
              </a:lnSpc>
              <a:spcBef>
                <a:spcPct val="0"/>
              </a:spcBef>
            </a:pPr>
            <a:r>
              <a:rPr lang="ro-RO" sz="13677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Implementare</a:t>
            </a:r>
            <a:endParaRPr lang="en-US" sz="13677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100772" y="5921884"/>
            <a:ext cx="5417116" cy="43601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2"/>
              </a:lnSpc>
            </a:pPr>
            <a:endParaRPr lang="en-US" sz="2574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15" name="TextBox 19"/>
          <p:cNvSpPr txBox="1"/>
          <p:nvPr/>
        </p:nvSpPr>
        <p:spPr>
          <a:xfrm rot="30344">
            <a:off x="4573946" y="3450599"/>
            <a:ext cx="17570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en-US" sz="48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Python</a:t>
            </a:r>
            <a:endParaRPr lang="ro-RO" sz="4800" dirty="0" smtClean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16" name="TextBox 19"/>
          <p:cNvSpPr txBox="1"/>
          <p:nvPr/>
        </p:nvSpPr>
        <p:spPr>
          <a:xfrm rot="30344">
            <a:off x="3294006" y="4863456"/>
            <a:ext cx="13392656" cy="314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536"/>
              </a:lnSpc>
              <a:buFont typeface="Arial" panose="020B0604020202020204" pitchFamily="34" charset="0"/>
              <a:buChar char="•"/>
            </a:pPr>
            <a:r>
              <a:rPr lang="ro-RO" sz="2699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Funcțiile utilizate:</a:t>
            </a:r>
          </a:p>
          <a:p>
            <a:pPr>
              <a:lnSpc>
                <a:spcPts val="3536"/>
              </a:lnSpc>
            </a:pPr>
            <a:r>
              <a:rPr lang="ro-RO" sz="2699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- </a:t>
            </a:r>
            <a:r>
              <a:rPr lang="ro-RO" sz="2699" b="1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calculate_cosine_similarity(reviews): </a:t>
            </a:r>
            <a:r>
              <a:rPr lang="ro-RO" sz="2699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calculează matricea de similaritate cosinus între recenzii</a:t>
            </a:r>
            <a:r>
              <a:rPr lang="en-US" sz="2699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;</a:t>
            </a:r>
            <a:endParaRPr lang="ro-RO" sz="2699" dirty="0" smtClean="0">
              <a:solidFill>
                <a:srgbClr val="000000"/>
              </a:solidFill>
              <a:latin typeface="Dekko" panose="020B0604020202020204" charset="-18"/>
              <a:ea typeface="Dekko"/>
              <a:cs typeface="Dekko" panose="020B0604020202020204" charset="-18"/>
              <a:sym typeface="Dekko"/>
            </a:endParaRPr>
          </a:p>
          <a:p>
            <a:pPr>
              <a:lnSpc>
                <a:spcPts val="3536"/>
              </a:lnSpc>
            </a:pPr>
            <a:r>
              <a:rPr lang="ro-RO" sz="2699" b="1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- TfidfVectorizer: </a:t>
            </a:r>
            <a:r>
              <a:rPr lang="ro-RO" sz="2699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transformă recenziile în vectori numerici (bazat pe frecvența cuvintelor);</a:t>
            </a:r>
          </a:p>
          <a:p>
            <a:pPr>
              <a:lnSpc>
                <a:spcPts val="3536"/>
              </a:lnSpc>
            </a:pPr>
            <a:r>
              <a:rPr lang="ro-RO" sz="2699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- </a:t>
            </a:r>
            <a:r>
              <a:rPr lang="ro-RO" sz="2699" b="1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cosine_similarity: </a:t>
            </a:r>
            <a:r>
              <a:rPr lang="ro-RO" sz="2699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compară recenziile între ele;</a:t>
            </a:r>
          </a:p>
          <a:p>
            <a:pPr>
              <a:lnSpc>
                <a:spcPts val="3536"/>
              </a:lnSpc>
            </a:pPr>
            <a:r>
              <a:rPr lang="ro-RO" sz="2699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- </a:t>
            </a:r>
            <a:r>
              <a:rPr lang="ro-RO" sz="2699" b="1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save_similarity_matrix_to_csv(matrix, output_path): </a:t>
            </a:r>
            <a:r>
              <a:rPr lang="ro-RO" sz="2699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salvează matricea de similaritate într-un fișier CSV. Dacă matricea </a:t>
            </a:r>
            <a:r>
              <a:rPr lang="es-ES" sz="2800" dirty="0" smtClean="0">
                <a:latin typeface="Dekko" panose="020B0604020202020204" charset="-18"/>
                <a:cs typeface="Dekko" panose="020B0604020202020204" charset="-18"/>
              </a:rPr>
              <a:t>este </a:t>
            </a:r>
            <a:r>
              <a:rPr lang="ro-RO" sz="2800" dirty="0" smtClean="0">
                <a:latin typeface="Dekko" panose="020B0604020202020204" charset="-18"/>
                <a:cs typeface="Dekko" panose="020B0604020202020204" charset="-18"/>
              </a:rPr>
              <a:t>goală</a:t>
            </a:r>
            <a:r>
              <a:rPr lang="es-ES" sz="2800" dirty="0" smtClean="0">
                <a:latin typeface="Dekko" panose="020B0604020202020204" charset="-18"/>
                <a:cs typeface="Dekko" panose="020B0604020202020204" charset="-18"/>
              </a:rPr>
              <a:t>, </a:t>
            </a:r>
            <a:r>
              <a:rPr lang="ro-RO" sz="2800" dirty="0" smtClean="0">
                <a:latin typeface="Dekko" panose="020B0604020202020204" charset="-18"/>
                <a:cs typeface="Dekko" panose="020B0604020202020204" charset="-18"/>
              </a:rPr>
              <a:t>afișează</a:t>
            </a:r>
            <a:r>
              <a:rPr lang="es-ES" sz="2800" dirty="0" smtClean="0">
                <a:latin typeface="Dekko" panose="020B0604020202020204" charset="-18"/>
                <a:cs typeface="Dekko" panose="020B0604020202020204" charset="-18"/>
              </a:rPr>
              <a:t> un</a:t>
            </a:r>
            <a:r>
              <a:rPr lang="ro-RO" sz="2800" dirty="0" smtClean="0">
                <a:latin typeface="Dekko" panose="020B0604020202020204" charset="-18"/>
                <a:cs typeface="Dekko" panose="020B0604020202020204" charset="-18"/>
              </a:rPr>
              <a:t> mesaj </a:t>
            </a:r>
            <a:r>
              <a:rPr lang="es-ES" sz="2800" dirty="0" smtClean="0">
                <a:latin typeface="Dekko" panose="020B0604020202020204" charset="-18"/>
                <a:cs typeface="Dekko" panose="020B0604020202020204" charset="-18"/>
              </a:rPr>
              <a:t>de </a:t>
            </a:r>
            <a:r>
              <a:rPr lang="ro-RO" sz="2800" dirty="0" smtClean="0">
                <a:latin typeface="Dekko" panose="020B0604020202020204" charset="-18"/>
                <a:cs typeface="Dekko" panose="020B0604020202020204" charset="-18"/>
              </a:rPr>
              <a:t>avertizare</a:t>
            </a:r>
            <a:r>
              <a:rPr lang="es-ES" sz="2800" dirty="0" smtClean="0">
                <a:latin typeface="Dekko" panose="020B0604020202020204" charset="-18"/>
                <a:cs typeface="Dekko" panose="020B0604020202020204" charset="-18"/>
              </a:rPr>
              <a:t>.</a:t>
            </a:r>
            <a:endParaRPr lang="ro-RO" sz="2800" dirty="0">
              <a:solidFill>
                <a:srgbClr val="000000"/>
              </a:solidFill>
              <a:latin typeface="Dekko" panose="020B0604020202020204" charset="-18"/>
              <a:ea typeface="Dekko"/>
              <a:cs typeface="Dekko" panose="020B0604020202020204" charset="-18"/>
              <a:sym typeface="Dekko"/>
            </a:endParaRPr>
          </a:p>
        </p:txBody>
      </p:sp>
    </p:spTree>
    <p:extLst>
      <p:ext uri="{BB962C8B-B14F-4D97-AF65-F5344CB8AC3E}">
        <p14:creationId xmlns:p14="http://schemas.microsoft.com/office/powerpoint/2010/main" val="3483157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7261" y="2708026"/>
            <a:ext cx="16333477" cy="7159874"/>
          </a:xfrm>
          <a:custGeom>
            <a:avLst/>
            <a:gdLst/>
            <a:ahLst/>
            <a:cxnLst/>
            <a:rect l="l" t="t" r="r" b="b"/>
            <a:pathLst>
              <a:path w="7189477" h="5321547">
                <a:moveTo>
                  <a:pt x="0" y="0"/>
                </a:moveTo>
                <a:lnTo>
                  <a:pt x="7189477" y="0"/>
                </a:lnTo>
                <a:lnTo>
                  <a:pt x="7189477" y="5321547"/>
                </a:lnTo>
                <a:lnTo>
                  <a:pt x="0" y="532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12362" y="2708026"/>
            <a:ext cx="736079" cy="734827"/>
          </a:xfrm>
          <a:custGeom>
            <a:avLst/>
            <a:gdLst/>
            <a:ahLst/>
            <a:cxnLst/>
            <a:rect l="l" t="t" r="r" b="b"/>
            <a:pathLst>
              <a:path w="736079" h="734827">
                <a:moveTo>
                  <a:pt x="0" y="0"/>
                </a:moveTo>
                <a:lnTo>
                  <a:pt x="736079" y="0"/>
                </a:lnTo>
                <a:lnTo>
                  <a:pt x="736079" y="734827"/>
                </a:lnTo>
                <a:lnTo>
                  <a:pt x="0" y="734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29631">
            <a:off x="3678240" y="3078978"/>
            <a:ext cx="3710454" cy="1016872"/>
          </a:xfrm>
          <a:custGeom>
            <a:avLst/>
            <a:gdLst/>
            <a:ahLst/>
            <a:cxnLst/>
            <a:rect l="l" t="t" r="r" b="b"/>
            <a:pathLst>
              <a:path w="4620611" h="1318974">
                <a:moveTo>
                  <a:pt x="0" y="0"/>
                </a:moveTo>
                <a:lnTo>
                  <a:pt x="4620611" y="0"/>
                </a:lnTo>
                <a:lnTo>
                  <a:pt x="4620611" y="1318974"/>
                </a:lnTo>
                <a:lnTo>
                  <a:pt x="0" y="13189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24554" y="722084"/>
            <a:ext cx="1687808" cy="2163857"/>
          </a:xfrm>
          <a:custGeom>
            <a:avLst/>
            <a:gdLst/>
            <a:ahLst/>
            <a:cxnLst/>
            <a:rect l="l" t="t" r="r" b="b"/>
            <a:pathLst>
              <a:path w="1687808" h="2163857">
                <a:moveTo>
                  <a:pt x="0" y="0"/>
                </a:moveTo>
                <a:lnTo>
                  <a:pt x="1687808" y="0"/>
                </a:lnTo>
                <a:lnTo>
                  <a:pt x="1687808" y="2163857"/>
                </a:lnTo>
                <a:lnTo>
                  <a:pt x="0" y="2163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062918" y="1441203"/>
            <a:ext cx="1200773" cy="2057400"/>
          </a:xfrm>
          <a:custGeom>
            <a:avLst/>
            <a:gdLst/>
            <a:ahLst/>
            <a:cxnLst/>
            <a:rect l="l" t="t" r="r" b="b"/>
            <a:pathLst>
              <a:path w="1200773" h="2057400">
                <a:moveTo>
                  <a:pt x="0" y="0"/>
                </a:moveTo>
                <a:lnTo>
                  <a:pt x="1200774" y="0"/>
                </a:lnTo>
                <a:lnTo>
                  <a:pt x="12007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62200" y="135395"/>
            <a:ext cx="13925345" cy="2187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48"/>
              </a:lnSpc>
              <a:spcBef>
                <a:spcPct val="0"/>
              </a:spcBef>
            </a:pPr>
            <a:r>
              <a:rPr lang="ro-RO" sz="13677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Implementare</a:t>
            </a:r>
            <a:endParaRPr lang="en-US" sz="13677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100772" y="5921884"/>
            <a:ext cx="5417116" cy="43601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2"/>
              </a:lnSpc>
            </a:pPr>
            <a:endParaRPr lang="en-US" sz="2574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15" name="TextBox 19"/>
          <p:cNvSpPr txBox="1"/>
          <p:nvPr/>
        </p:nvSpPr>
        <p:spPr>
          <a:xfrm rot="30344">
            <a:off x="4573946" y="3450599"/>
            <a:ext cx="17570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en-US" sz="48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Python</a:t>
            </a:r>
            <a:endParaRPr lang="ro-RO" sz="4800" dirty="0" smtClean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16" name="TextBox 19"/>
          <p:cNvSpPr txBox="1"/>
          <p:nvPr/>
        </p:nvSpPr>
        <p:spPr>
          <a:xfrm rot="30344">
            <a:off x="3324269" y="4466922"/>
            <a:ext cx="13392656" cy="4488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536"/>
              </a:lnSpc>
              <a:buFont typeface="Arial" panose="020B0604020202020204" pitchFamily="34" charset="0"/>
              <a:buChar char="•"/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Funcția principală (main)</a:t>
            </a:r>
          </a:p>
          <a:p>
            <a:pPr>
              <a:lnSpc>
                <a:spcPts val="3536"/>
              </a:lnSpc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În această parte sunt efectuați următorii pași: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- încărcare datelor: se citește fișierul JSON, care conține recenziile;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- verificarea datelor: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programul se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asigură că recenziile sunt de tip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string și că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există coloanele necesare: "comment" și "rating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".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Rândurile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lipsă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sunt eliminate pentru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aceste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coloane;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- clasificarea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sentimentelor: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se aplică funcția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analyze_sentiment pentru fiecare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comentariu și se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adaugă o nouă coloană "Sentiment" în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DataFrame;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- vizualizarea sentimentelor: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se creează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un grafic de tip bară pentru a arăta distribuția sentimentelor (Love, Hate, Neutral).</a:t>
            </a:r>
          </a:p>
        </p:txBody>
      </p:sp>
    </p:spTree>
    <p:extLst>
      <p:ext uri="{BB962C8B-B14F-4D97-AF65-F5344CB8AC3E}">
        <p14:creationId xmlns:p14="http://schemas.microsoft.com/office/powerpoint/2010/main" val="3256394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7261" y="2708026"/>
            <a:ext cx="16333477" cy="7159874"/>
          </a:xfrm>
          <a:custGeom>
            <a:avLst/>
            <a:gdLst/>
            <a:ahLst/>
            <a:cxnLst/>
            <a:rect l="l" t="t" r="r" b="b"/>
            <a:pathLst>
              <a:path w="7189477" h="5321547">
                <a:moveTo>
                  <a:pt x="0" y="0"/>
                </a:moveTo>
                <a:lnTo>
                  <a:pt x="7189477" y="0"/>
                </a:lnTo>
                <a:lnTo>
                  <a:pt x="7189477" y="5321547"/>
                </a:lnTo>
                <a:lnTo>
                  <a:pt x="0" y="532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12362" y="2708026"/>
            <a:ext cx="736079" cy="734827"/>
          </a:xfrm>
          <a:custGeom>
            <a:avLst/>
            <a:gdLst/>
            <a:ahLst/>
            <a:cxnLst/>
            <a:rect l="l" t="t" r="r" b="b"/>
            <a:pathLst>
              <a:path w="736079" h="734827">
                <a:moveTo>
                  <a:pt x="0" y="0"/>
                </a:moveTo>
                <a:lnTo>
                  <a:pt x="736079" y="0"/>
                </a:lnTo>
                <a:lnTo>
                  <a:pt x="736079" y="734827"/>
                </a:lnTo>
                <a:lnTo>
                  <a:pt x="0" y="734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29631">
            <a:off x="3678240" y="3078978"/>
            <a:ext cx="3710454" cy="1016872"/>
          </a:xfrm>
          <a:custGeom>
            <a:avLst/>
            <a:gdLst/>
            <a:ahLst/>
            <a:cxnLst/>
            <a:rect l="l" t="t" r="r" b="b"/>
            <a:pathLst>
              <a:path w="4620611" h="1318974">
                <a:moveTo>
                  <a:pt x="0" y="0"/>
                </a:moveTo>
                <a:lnTo>
                  <a:pt x="4620611" y="0"/>
                </a:lnTo>
                <a:lnTo>
                  <a:pt x="4620611" y="1318974"/>
                </a:lnTo>
                <a:lnTo>
                  <a:pt x="0" y="13189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24554" y="722084"/>
            <a:ext cx="1687808" cy="2163857"/>
          </a:xfrm>
          <a:custGeom>
            <a:avLst/>
            <a:gdLst/>
            <a:ahLst/>
            <a:cxnLst/>
            <a:rect l="l" t="t" r="r" b="b"/>
            <a:pathLst>
              <a:path w="1687808" h="2163857">
                <a:moveTo>
                  <a:pt x="0" y="0"/>
                </a:moveTo>
                <a:lnTo>
                  <a:pt x="1687808" y="0"/>
                </a:lnTo>
                <a:lnTo>
                  <a:pt x="1687808" y="2163857"/>
                </a:lnTo>
                <a:lnTo>
                  <a:pt x="0" y="2163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062918" y="1441203"/>
            <a:ext cx="1200773" cy="2057400"/>
          </a:xfrm>
          <a:custGeom>
            <a:avLst/>
            <a:gdLst/>
            <a:ahLst/>
            <a:cxnLst/>
            <a:rect l="l" t="t" r="r" b="b"/>
            <a:pathLst>
              <a:path w="1200773" h="2057400">
                <a:moveTo>
                  <a:pt x="0" y="0"/>
                </a:moveTo>
                <a:lnTo>
                  <a:pt x="1200774" y="0"/>
                </a:lnTo>
                <a:lnTo>
                  <a:pt x="12007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62200" y="135395"/>
            <a:ext cx="13925345" cy="2187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48"/>
              </a:lnSpc>
              <a:spcBef>
                <a:spcPct val="0"/>
              </a:spcBef>
            </a:pPr>
            <a:r>
              <a:rPr lang="ro-RO" sz="13677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Implementare</a:t>
            </a:r>
            <a:endParaRPr lang="en-US" sz="13677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100772" y="5921884"/>
            <a:ext cx="5417116" cy="43601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2"/>
              </a:lnSpc>
            </a:pPr>
            <a:endParaRPr lang="en-US" sz="2574" dirty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15" name="TextBox 19"/>
          <p:cNvSpPr txBox="1"/>
          <p:nvPr/>
        </p:nvSpPr>
        <p:spPr>
          <a:xfrm rot="30344">
            <a:off x="4573946" y="3450599"/>
            <a:ext cx="17570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en-US" sz="48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Python</a:t>
            </a:r>
            <a:endParaRPr lang="ro-RO" sz="4800" dirty="0" smtClean="0">
              <a:solidFill>
                <a:srgbClr val="000000"/>
              </a:solidFill>
              <a:latin typeface="Dekko"/>
              <a:ea typeface="Dekko"/>
              <a:cs typeface="Dekko"/>
              <a:sym typeface="Dekko"/>
            </a:endParaRPr>
          </a:p>
        </p:txBody>
      </p:sp>
      <p:sp>
        <p:nvSpPr>
          <p:cNvPr id="16" name="TextBox 19"/>
          <p:cNvSpPr txBox="1"/>
          <p:nvPr/>
        </p:nvSpPr>
        <p:spPr>
          <a:xfrm rot="30344">
            <a:off x="3295627" y="4786957"/>
            <a:ext cx="13392656" cy="314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536"/>
              </a:lnSpc>
              <a:buFont typeface="Arial" panose="020B0604020202020204" pitchFamily="34" charset="0"/>
              <a:buChar char="•"/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Funcția principală (main)</a:t>
            </a:r>
          </a:p>
          <a:p>
            <a:pPr>
              <a:lnSpc>
                <a:spcPts val="3536"/>
              </a:lnSpc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În această parte sunt efectuați următorii pași: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- calcularea similarității: se c</a:t>
            </a:r>
            <a:r>
              <a:rPr lang="it-IT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alculează </a:t>
            </a:r>
            <a:r>
              <a:rPr lang="it-IT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matricea de similaritate cosinus pentru recenzii folosind funcția </a:t>
            </a:r>
            <a:r>
              <a:rPr lang="it-IT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calculate_cosine_similarity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;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- salvarea matricei: se s</a:t>
            </a:r>
            <a:r>
              <a:rPr lang="it-IT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alvează </a:t>
            </a:r>
            <a:r>
              <a:rPr lang="it-IT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matricea de similaritate într-un fișier CSV </a:t>
            </a:r>
            <a:r>
              <a:rPr lang="it-IT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specificat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;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	- vizualizarea matricei de similaritate: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se creează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un heatmap (hartă termică) care arată similaritățile între recenzii.</a:t>
            </a:r>
          </a:p>
        </p:txBody>
      </p:sp>
    </p:spTree>
    <p:extLst>
      <p:ext uri="{BB962C8B-B14F-4D97-AF65-F5344CB8AC3E}">
        <p14:creationId xmlns:p14="http://schemas.microsoft.com/office/powerpoint/2010/main" val="2415522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957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87912" y="2386492"/>
            <a:ext cx="6294087" cy="7405208"/>
          </a:xfrm>
          <a:custGeom>
            <a:avLst/>
            <a:gdLst/>
            <a:ahLst/>
            <a:cxnLst/>
            <a:rect l="l" t="t" r="r" b="b"/>
            <a:pathLst>
              <a:path w="7189477" h="5321547">
                <a:moveTo>
                  <a:pt x="0" y="0"/>
                </a:moveTo>
                <a:lnTo>
                  <a:pt x="7189477" y="0"/>
                </a:lnTo>
                <a:lnTo>
                  <a:pt x="7189477" y="5321547"/>
                </a:lnTo>
                <a:lnTo>
                  <a:pt x="0" y="532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16164" y="2281411"/>
            <a:ext cx="736079" cy="734827"/>
          </a:xfrm>
          <a:custGeom>
            <a:avLst/>
            <a:gdLst/>
            <a:ahLst/>
            <a:cxnLst/>
            <a:rect l="l" t="t" r="r" b="b"/>
            <a:pathLst>
              <a:path w="736079" h="734827">
                <a:moveTo>
                  <a:pt x="0" y="0"/>
                </a:moveTo>
                <a:lnTo>
                  <a:pt x="736079" y="0"/>
                </a:lnTo>
                <a:lnTo>
                  <a:pt x="736079" y="734827"/>
                </a:lnTo>
                <a:lnTo>
                  <a:pt x="0" y="734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29631">
            <a:off x="3669050" y="2920608"/>
            <a:ext cx="4144973" cy="1193204"/>
          </a:xfrm>
          <a:custGeom>
            <a:avLst/>
            <a:gdLst/>
            <a:ahLst/>
            <a:cxnLst/>
            <a:rect l="l" t="t" r="r" b="b"/>
            <a:pathLst>
              <a:path w="4620611" h="1318974">
                <a:moveTo>
                  <a:pt x="0" y="0"/>
                </a:moveTo>
                <a:lnTo>
                  <a:pt x="4620611" y="0"/>
                </a:lnTo>
                <a:lnTo>
                  <a:pt x="4620611" y="1318974"/>
                </a:lnTo>
                <a:lnTo>
                  <a:pt x="0" y="13189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24554" y="722084"/>
            <a:ext cx="1687808" cy="2163857"/>
          </a:xfrm>
          <a:custGeom>
            <a:avLst/>
            <a:gdLst/>
            <a:ahLst/>
            <a:cxnLst/>
            <a:rect l="l" t="t" r="r" b="b"/>
            <a:pathLst>
              <a:path w="1687808" h="2163857">
                <a:moveTo>
                  <a:pt x="0" y="0"/>
                </a:moveTo>
                <a:lnTo>
                  <a:pt x="1687808" y="0"/>
                </a:lnTo>
                <a:lnTo>
                  <a:pt x="1687808" y="2163857"/>
                </a:lnTo>
                <a:lnTo>
                  <a:pt x="0" y="2163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224418" y="1104900"/>
            <a:ext cx="1200773" cy="2057400"/>
          </a:xfrm>
          <a:custGeom>
            <a:avLst/>
            <a:gdLst/>
            <a:ahLst/>
            <a:cxnLst/>
            <a:rect l="l" t="t" r="r" b="b"/>
            <a:pathLst>
              <a:path w="1200773" h="2057400">
                <a:moveTo>
                  <a:pt x="0" y="0"/>
                </a:moveTo>
                <a:lnTo>
                  <a:pt x="1200774" y="0"/>
                </a:lnTo>
                <a:lnTo>
                  <a:pt x="12007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62200" y="135395"/>
            <a:ext cx="13925345" cy="2187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48"/>
              </a:lnSpc>
              <a:spcBef>
                <a:spcPct val="0"/>
              </a:spcBef>
            </a:pPr>
            <a:r>
              <a:rPr lang="ro-RO" sz="13677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Implementare</a:t>
            </a:r>
            <a:endParaRPr lang="en-US" sz="13677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5" name="TextBox 19"/>
          <p:cNvSpPr txBox="1"/>
          <p:nvPr/>
        </p:nvSpPr>
        <p:spPr>
          <a:xfrm rot="30344">
            <a:off x="4090901" y="3420749"/>
            <a:ext cx="3349201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ro-RO" sz="48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Fișierul JSON</a:t>
            </a:r>
          </a:p>
        </p:txBody>
      </p:sp>
      <p:sp>
        <p:nvSpPr>
          <p:cNvPr id="16" name="TextBox 19"/>
          <p:cNvSpPr txBox="1"/>
          <p:nvPr/>
        </p:nvSpPr>
        <p:spPr>
          <a:xfrm rot="30344">
            <a:off x="3303923" y="4321461"/>
            <a:ext cx="4572264" cy="4488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Codul Python citește fișierul JSON, care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reprezintă o colecție de recenzii pentru un film. Fiecare obiect din lista JSON conține următoarele informații despre o recenzie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: autor, rating și comentarii despre film, în care autorul își exprimă opiniile. </a:t>
            </a:r>
          </a:p>
          <a:p>
            <a:pPr>
              <a:lnSpc>
                <a:spcPts val="3536"/>
              </a:lnSpc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În urma rulării codului se opține următorul output: </a:t>
            </a:r>
            <a:endParaRPr lang="ro-RO" sz="2800" dirty="0">
              <a:solidFill>
                <a:srgbClr val="000000"/>
              </a:solidFill>
              <a:latin typeface="Dekko" panose="020B0604020202020204" charset="-18"/>
              <a:ea typeface="Dekko"/>
              <a:cs typeface="Dekko" panose="020B0604020202020204" charset="-18"/>
              <a:sym typeface="Dekko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3316" y="2386492"/>
            <a:ext cx="7139784" cy="73216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0448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957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88511" y="3150768"/>
            <a:ext cx="12466288" cy="5271608"/>
          </a:xfrm>
          <a:custGeom>
            <a:avLst/>
            <a:gdLst/>
            <a:ahLst/>
            <a:cxnLst/>
            <a:rect l="l" t="t" r="r" b="b"/>
            <a:pathLst>
              <a:path w="7189477" h="5321547">
                <a:moveTo>
                  <a:pt x="0" y="0"/>
                </a:moveTo>
                <a:lnTo>
                  <a:pt x="7189477" y="0"/>
                </a:lnTo>
                <a:lnTo>
                  <a:pt x="7189477" y="5321547"/>
                </a:lnTo>
                <a:lnTo>
                  <a:pt x="0" y="532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736364" y="3082098"/>
            <a:ext cx="736079" cy="734827"/>
          </a:xfrm>
          <a:custGeom>
            <a:avLst/>
            <a:gdLst/>
            <a:ahLst/>
            <a:cxnLst/>
            <a:rect l="l" t="t" r="r" b="b"/>
            <a:pathLst>
              <a:path w="736079" h="734827">
                <a:moveTo>
                  <a:pt x="0" y="0"/>
                </a:moveTo>
                <a:lnTo>
                  <a:pt x="736079" y="0"/>
                </a:lnTo>
                <a:lnTo>
                  <a:pt x="736079" y="734827"/>
                </a:lnTo>
                <a:lnTo>
                  <a:pt x="0" y="734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29631">
            <a:off x="4507643" y="3586515"/>
            <a:ext cx="4144973" cy="1193204"/>
          </a:xfrm>
          <a:custGeom>
            <a:avLst/>
            <a:gdLst/>
            <a:ahLst/>
            <a:cxnLst/>
            <a:rect l="l" t="t" r="r" b="b"/>
            <a:pathLst>
              <a:path w="4620611" h="1318974">
                <a:moveTo>
                  <a:pt x="0" y="0"/>
                </a:moveTo>
                <a:lnTo>
                  <a:pt x="4620611" y="0"/>
                </a:lnTo>
                <a:lnTo>
                  <a:pt x="4620611" y="1318974"/>
                </a:lnTo>
                <a:lnTo>
                  <a:pt x="0" y="13189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24554" y="722084"/>
            <a:ext cx="1687808" cy="2163857"/>
          </a:xfrm>
          <a:custGeom>
            <a:avLst/>
            <a:gdLst/>
            <a:ahLst/>
            <a:cxnLst/>
            <a:rect l="l" t="t" r="r" b="b"/>
            <a:pathLst>
              <a:path w="1687808" h="2163857">
                <a:moveTo>
                  <a:pt x="0" y="0"/>
                </a:moveTo>
                <a:lnTo>
                  <a:pt x="1687808" y="0"/>
                </a:lnTo>
                <a:lnTo>
                  <a:pt x="1687808" y="2163857"/>
                </a:lnTo>
                <a:lnTo>
                  <a:pt x="0" y="2163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224418" y="1104900"/>
            <a:ext cx="1200773" cy="2057400"/>
          </a:xfrm>
          <a:custGeom>
            <a:avLst/>
            <a:gdLst/>
            <a:ahLst/>
            <a:cxnLst/>
            <a:rect l="l" t="t" r="r" b="b"/>
            <a:pathLst>
              <a:path w="1200773" h="2057400">
                <a:moveTo>
                  <a:pt x="0" y="0"/>
                </a:moveTo>
                <a:lnTo>
                  <a:pt x="1200774" y="0"/>
                </a:lnTo>
                <a:lnTo>
                  <a:pt x="12007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62200" y="135395"/>
            <a:ext cx="13925345" cy="2187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48"/>
              </a:lnSpc>
              <a:spcBef>
                <a:spcPct val="0"/>
              </a:spcBef>
            </a:pPr>
            <a:r>
              <a:rPr lang="ro-RO" sz="13677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Implementare</a:t>
            </a:r>
            <a:endParaRPr lang="en-US" sz="13677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5" name="TextBox 19"/>
          <p:cNvSpPr txBox="1"/>
          <p:nvPr/>
        </p:nvSpPr>
        <p:spPr>
          <a:xfrm rot="30344">
            <a:off x="5315679" y="4066275"/>
            <a:ext cx="3349201" cy="521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ro-RO" sz="48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Matplotlib</a:t>
            </a:r>
          </a:p>
        </p:txBody>
      </p:sp>
      <p:sp>
        <p:nvSpPr>
          <p:cNvPr id="16" name="TextBox 19"/>
          <p:cNvSpPr txBox="1"/>
          <p:nvPr/>
        </p:nvSpPr>
        <p:spPr>
          <a:xfrm rot="30344">
            <a:off x="4488067" y="5151951"/>
            <a:ext cx="8625080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În codul Python am folosit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biblioteca </a:t>
            </a:r>
            <a:r>
              <a:rPr lang="ro-RO" sz="2800" b="1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matplotlib.pyplot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pentru a crea grafice care vizualizează datele diin recenzii. Astfel, putem face vizualizarea distribuției sentimentelor (bar chart) și vizualizarea matricei de similaritate (heatmap).</a:t>
            </a:r>
            <a:endParaRPr lang="ro-RO" sz="2800" b="1" dirty="0">
              <a:solidFill>
                <a:srgbClr val="000000"/>
              </a:solidFill>
              <a:latin typeface="Dekko" panose="020B0604020202020204" charset="-18"/>
              <a:ea typeface="Dekko"/>
              <a:cs typeface="Dekko" panose="020B0604020202020204" charset="-18"/>
              <a:sym typeface="Dekko"/>
            </a:endParaRPr>
          </a:p>
        </p:txBody>
      </p:sp>
    </p:spTree>
    <p:extLst>
      <p:ext uri="{BB962C8B-B14F-4D97-AF65-F5344CB8AC3E}">
        <p14:creationId xmlns:p14="http://schemas.microsoft.com/office/powerpoint/2010/main" val="422891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68458" y="2397694"/>
            <a:ext cx="6294087" cy="7405208"/>
          </a:xfrm>
          <a:custGeom>
            <a:avLst/>
            <a:gdLst/>
            <a:ahLst/>
            <a:cxnLst/>
            <a:rect l="l" t="t" r="r" b="b"/>
            <a:pathLst>
              <a:path w="7189477" h="5321547">
                <a:moveTo>
                  <a:pt x="0" y="0"/>
                </a:moveTo>
                <a:lnTo>
                  <a:pt x="7189477" y="0"/>
                </a:lnTo>
                <a:lnTo>
                  <a:pt x="7189477" y="5321547"/>
                </a:lnTo>
                <a:lnTo>
                  <a:pt x="0" y="532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16164" y="2281411"/>
            <a:ext cx="736079" cy="734827"/>
          </a:xfrm>
          <a:custGeom>
            <a:avLst/>
            <a:gdLst/>
            <a:ahLst/>
            <a:cxnLst/>
            <a:rect l="l" t="t" r="r" b="b"/>
            <a:pathLst>
              <a:path w="736079" h="734827">
                <a:moveTo>
                  <a:pt x="0" y="0"/>
                </a:moveTo>
                <a:lnTo>
                  <a:pt x="736079" y="0"/>
                </a:lnTo>
                <a:lnTo>
                  <a:pt x="736079" y="734827"/>
                </a:lnTo>
                <a:lnTo>
                  <a:pt x="0" y="734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29631">
            <a:off x="3667669" y="2736800"/>
            <a:ext cx="4144973" cy="1193204"/>
          </a:xfrm>
          <a:custGeom>
            <a:avLst/>
            <a:gdLst/>
            <a:ahLst/>
            <a:cxnLst/>
            <a:rect l="l" t="t" r="r" b="b"/>
            <a:pathLst>
              <a:path w="4620611" h="1318974">
                <a:moveTo>
                  <a:pt x="0" y="0"/>
                </a:moveTo>
                <a:lnTo>
                  <a:pt x="4620611" y="0"/>
                </a:lnTo>
                <a:lnTo>
                  <a:pt x="4620611" y="1318974"/>
                </a:lnTo>
                <a:lnTo>
                  <a:pt x="0" y="13189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24554" y="722084"/>
            <a:ext cx="1687808" cy="2163857"/>
          </a:xfrm>
          <a:custGeom>
            <a:avLst/>
            <a:gdLst/>
            <a:ahLst/>
            <a:cxnLst/>
            <a:rect l="l" t="t" r="r" b="b"/>
            <a:pathLst>
              <a:path w="1687808" h="2163857">
                <a:moveTo>
                  <a:pt x="0" y="0"/>
                </a:moveTo>
                <a:lnTo>
                  <a:pt x="1687808" y="0"/>
                </a:lnTo>
                <a:lnTo>
                  <a:pt x="1687808" y="2163857"/>
                </a:lnTo>
                <a:lnTo>
                  <a:pt x="0" y="2163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224418" y="1104900"/>
            <a:ext cx="1200773" cy="2057400"/>
          </a:xfrm>
          <a:custGeom>
            <a:avLst/>
            <a:gdLst/>
            <a:ahLst/>
            <a:cxnLst/>
            <a:rect l="l" t="t" r="r" b="b"/>
            <a:pathLst>
              <a:path w="1200773" h="2057400">
                <a:moveTo>
                  <a:pt x="0" y="0"/>
                </a:moveTo>
                <a:lnTo>
                  <a:pt x="1200774" y="0"/>
                </a:lnTo>
                <a:lnTo>
                  <a:pt x="12007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62200" y="135395"/>
            <a:ext cx="13925345" cy="2187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48"/>
              </a:lnSpc>
              <a:spcBef>
                <a:spcPct val="0"/>
              </a:spcBef>
            </a:pPr>
            <a:r>
              <a:rPr lang="ro-RO" sz="13677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Implementare</a:t>
            </a:r>
            <a:endParaRPr lang="en-US" sz="13677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5" name="TextBox 19"/>
          <p:cNvSpPr txBox="1"/>
          <p:nvPr/>
        </p:nvSpPr>
        <p:spPr>
          <a:xfrm rot="30344">
            <a:off x="4289748" y="3307514"/>
            <a:ext cx="3349201" cy="521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ro-RO" sz="48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Matplotlib</a:t>
            </a:r>
          </a:p>
        </p:txBody>
      </p:sp>
      <p:sp>
        <p:nvSpPr>
          <p:cNvPr id="16" name="TextBox 19"/>
          <p:cNvSpPr txBox="1"/>
          <p:nvPr/>
        </p:nvSpPr>
        <p:spPr>
          <a:xfrm rot="30344">
            <a:off x="3307885" y="4046469"/>
            <a:ext cx="4572264" cy="58349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ro-RO" sz="2800" b="1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Graficul de tip bară pentru distribuția sentimentelor</a:t>
            </a:r>
          </a:p>
          <a:p>
            <a:pPr>
              <a:lnSpc>
                <a:spcPts val="3536"/>
              </a:lnSpc>
            </a:pPr>
            <a:endParaRPr lang="ro-RO" sz="2800" b="1" dirty="0" smtClean="0">
              <a:solidFill>
                <a:srgbClr val="000000"/>
              </a:solidFill>
              <a:latin typeface="Dekko" panose="020B0604020202020204" charset="-18"/>
              <a:ea typeface="Dekko"/>
              <a:cs typeface="Dekko" panose="020B0604020202020204" charset="-18"/>
              <a:sym typeface="Dekko"/>
            </a:endParaRPr>
          </a:p>
          <a:p>
            <a:pPr>
              <a:lnSpc>
                <a:spcPts val="3536"/>
              </a:lnSpc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In acest grafic este prezentat câte recenzii aparțin fiecărui sentiment: LOVE, HATE și NEUTRAL.</a:t>
            </a:r>
          </a:p>
          <a:p>
            <a:pPr>
              <a:lnSpc>
                <a:spcPts val="3536"/>
              </a:lnSpc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Culorile pentru fiecare sentiment sunt definite explicit: 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#66b3ff pentru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Love;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#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ff6666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pentru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Hate;</a:t>
            </a:r>
          </a:p>
          <a:p>
            <a:pPr>
              <a:lnSpc>
                <a:spcPts val="3536"/>
              </a:lnSpc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#99ff99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pentru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Neutral.</a:t>
            </a:r>
          </a:p>
          <a:p>
            <a:pPr>
              <a:lnSpc>
                <a:spcPts val="3536"/>
              </a:lnSpc>
            </a:pPr>
            <a:endParaRPr lang="ro-RO" sz="2800" dirty="0">
              <a:solidFill>
                <a:srgbClr val="000000"/>
              </a:solidFill>
              <a:latin typeface="Dekko" panose="020B0604020202020204" charset="-18"/>
              <a:ea typeface="Dekko"/>
              <a:cs typeface="Dekko" panose="020B0604020202020204" charset="-18"/>
              <a:sym typeface="Dekko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6429" y="3292743"/>
            <a:ext cx="8844399" cy="55211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0625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957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772400" y="2467701"/>
            <a:ext cx="10486416" cy="7685789"/>
          </a:xfrm>
          <a:custGeom>
            <a:avLst/>
            <a:gdLst/>
            <a:ahLst/>
            <a:cxnLst/>
            <a:rect l="l" t="t" r="r" b="b"/>
            <a:pathLst>
              <a:path w="7189477" h="5321547">
                <a:moveTo>
                  <a:pt x="0" y="0"/>
                </a:moveTo>
                <a:lnTo>
                  <a:pt x="7189477" y="0"/>
                </a:lnTo>
                <a:lnTo>
                  <a:pt x="7189477" y="5321547"/>
                </a:lnTo>
                <a:lnTo>
                  <a:pt x="0" y="53215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267078" y="2416191"/>
            <a:ext cx="736079" cy="734827"/>
          </a:xfrm>
          <a:custGeom>
            <a:avLst/>
            <a:gdLst/>
            <a:ahLst/>
            <a:cxnLst/>
            <a:rect l="l" t="t" r="r" b="b"/>
            <a:pathLst>
              <a:path w="736079" h="734827">
                <a:moveTo>
                  <a:pt x="0" y="0"/>
                </a:moveTo>
                <a:lnTo>
                  <a:pt x="736079" y="0"/>
                </a:lnTo>
                <a:lnTo>
                  <a:pt x="736079" y="734827"/>
                </a:lnTo>
                <a:lnTo>
                  <a:pt x="0" y="734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29631">
            <a:off x="11175317" y="2744462"/>
            <a:ext cx="4144973" cy="1193204"/>
          </a:xfrm>
          <a:custGeom>
            <a:avLst/>
            <a:gdLst/>
            <a:ahLst/>
            <a:cxnLst/>
            <a:rect l="l" t="t" r="r" b="b"/>
            <a:pathLst>
              <a:path w="4620611" h="1318974">
                <a:moveTo>
                  <a:pt x="0" y="0"/>
                </a:moveTo>
                <a:lnTo>
                  <a:pt x="4620611" y="0"/>
                </a:lnTo>
                <a:lnTo>
                  <a:pt x="4620611" y="1318974"/>
                </a:lnTo>
                <a:lnTo>
                  <a:pt x="0" y="13189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912543" y="511045"/>
            <a:ext cx="1375978" cy="1601154"/>
          </a:xfrm>
          <a:custGeom>
            <a:avLst/>
            <a:gdLst/>
            <a:ahLst/>
            <a:cxnLst/>
            <a:rect l="l" t="t" r="r" b="b"/>
            <a:pathLst>
              <a:path w="1687808" h="2163857">
                <a:moveTo>
                  <a:pt x="0" y="0"/>
                </a:moveTo>
                <a:lnTo>
                  <a:pt x="1687808" y="0"/>
                </a:lnTo>
                <a:lnTo>
                  <a:pt x="1687808" y="2163857"/>
                </a:lnTo>
                <a:lnTo>
                  <a:pt x="0" y="2163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421367" y="726205"/>
            <a:ext cx="1200773" cy="2057400"/>
          </a:xfrm>
          <a:custGeom>
            <a:avLst/>
            <a:gdLst/>
            <a:ahLst/>
            <a:cxnLst/>
            <a:rect l="l" t="t" r="r" b="b"/>
            <a:pathLst>
              <a:path w="1200773" h="2057400">
                <a:moveTo>
                  <a:pt x="0" y="0"/>
                </a:moveTo>
                <a:lnTo>
                  <a:pt x="1200774" y="0"/>
                </a:lnTo>
                <a:lnTo>
                  <a:pt x="12007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62200" y="135395"/>
            <a:ext cx="13925345" cy="2187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48"/>
              </a:lnSpc>
              <a:spcBef>
                <a:spcPct val="0"/>
              </a:spcBef>
            </a:pPr>
            <a:r>
              <a:rPr lang="ro-RO" sz="13677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Implementare</a:t>
            </a:r>
            <a:endParaRPr lang="en-US" sz="13677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15" name="TextBox 19"/>
          <p:cNvSpPr txBox="1"/>
          <p:nvPr/>
        </p:nvSpPr>
        <p:spPr>
          <a:xfrm rot="30344">
            <a:off x="11991084" y="3256518"/>
            <a:ext cx="3349201" cy="521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ro-RO" sz="4800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Matplotlib</a:t>
            </a:r>
          </a:p>
        </p:txBody>
      </p:sp>
      <p:sp>
        <p:nvSpPr>
          <p:cNvPr id="16" name="TextBox 19"/>
          <p:cNvSpPr txBox="1"/>
          <p:nvPr/>
        </p:nvSpPr>
        <p:spPr>
          <a:xfrm rot="30344">
            <a:off x="9379660" y="4121078"/>
            <a:ext cx="8611609" cy="5386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ro-RO" sz="2800" b="1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Heatmap pentru matricea de similaritate cosinus</a:t>
            </a:r>
          </a:p>
          <a:p>
            <a:pPr>
              <a:lnSpc>
                <a:spcPts val="3536"/>
              </a:lnSpc>
            </a:pPr>
            <a:endParaRPr lang="ro-RO" sz="2800" b="1" dirty="0">
              <a:solidFill>
                <a:srgbClr val="000000"/>
              </a:solidFill>
              <a:latin typeface="Dekko" panose="020B0604020202020204" charset="-18"/>
              <a:ea typeface="Dekko"/>
              <a:cs typeface="Dekko" panose="020B0604020202020204" charset="-18"/>
              <a:sym typeface="Dekko"/>
            </a:endParaRPr>
          </a:p>
          <a:p>
            <a:pPr>
              <a:lnSpc>
                <a:spcPts val="3536"/>
              </a:lnSpc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În aceast grafic este arătat cât de mult seamănă recenziile între ele. Se pot observa vizual grupuri de recenzii similare (zonele albastre mai intense).</a:t>
            </a:r>
          </a:p>
          <a:p>
            <a:pPr>
              <a:lnSpc>
                <a:spcPts val="3536"/>
              </a:lnSpc>
            </a:pP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Parametrii importanți folosiți pentru acest grafic: </a:t>
            </a:r>
            <a:endParaRPr lang="ro-RO" sz="2800" dirty="0" smtClean="0">
              <a:solidFill>
                <a:srgbClr val="000000"/>
              </a:solidFill>
              <a:latin typeface="Dekko" panose="020B0604020202020204" charset="-18"/>
              <a:ea typeface="Dekko"/>
              <a:cs typeface="Dekko" panose="020B0604020202020204" charset="-18"/>
              <a:sym typeface="Dekko"/>
            </a:endParaRPr>
          </a:p>
          <a:p>
            <a:pPr marL="457200" indent="-457200">
              <a:lnSpc>
                <a:spcPts val="3536"/>
              </a:lnSpc>
              <a:buFont typeface="Arial" panose="020B0604020202020204" pitchFamily="34" charset="0"/>
              <a:buChar char="•"/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cmap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='coolwarm':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se definesc culorile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folosite în heatmap (roșu pentru valori mici, albastru pentru valori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mari);</a:t>
            </a:r>
          </a:p>
          <a:p>
            <a:pPr marL="457200" indent="-457200">
              <a:lnSpc>
                <a:spcPts val="3536"/>
              </a:lnSpc>
              <a:buFont typeface="Arial" panose="020B0604020202020204" pitchFamily="34" charset="0"/>
              <a:buChar char="•"/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annot=False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: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nu sunt afișate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valorile numerice în fiecare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celulă;</a:t>
            </a:r>
          </a:p>
          <a:p>
            <a:pPr marL="457200" indent="-457200">
              <a:lnSpc>
                <a:spcPts val="3536"/>
              </a:lnSpc>
              <a:buFont typeface="Arial" panose="020B0604020202020204" pitchFamily="34" charset="0"/>
              <a:buChar char="•"/>
            </a:pP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square=True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: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celulele </a:t>
            </a:r>
            <a:r>
              <a:rPr lang="ro-RO" sz="2800" dirty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din heatmap sunt </a:t>
            </a:r>
            <a:r>
              <a:rPr lang="ro-RO" sz="2800" dirty="0" smtClean="0">
                <a:solidFill>
                  <a:srgbClr val="000000"/>
                </a:solidFill>
                <a:latin typeface="Dekko" panose="020B0604020202020204" charset="-18"/>
                <a:ea typeface="Dekko"/>
                <a:cs typeface="Dekko" panose="020B0604020202020204" charset="-18"/>
                <a:sym typeface="Dekko"/>
              </a:rPr>
              <a:t>pătrate.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06" y="2783604"/>
            <a:ext cx="7373330" cy="643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59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 rot="5966813">
            <a:off x="3750727" y="-1706540"/>
            <a:ext cx="10786546" cy="13700079"/>
          </a:xfrm>
          <a:custGeom>
            <a:avLst/>
            <a:gdLst/>
            <a:ahLst/>
            <a:cxnLst/>
            <a:rect l="l" t="t" r="r" b="b"/>
            <a:pathLst>
              <a:path w="10786546" h="13700079">
                <a:moveTo>
                  <a:pt x="0" y="0"/>
                </a:moveTo>
                <a:lnTo>
                  <a:pt x="10786546" y="0"/>
                </a:lnTo>
                <a:lnTo>
                  <a:pt x="10786546" y="13700080"/>
                </a:lnTo>
                <a:lnTo>
                  <a:pt x="0" y="13700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1644" y="529928"/>
            <a:ext cx="4121568" cy="4114800"/>
          </a:xfrm>
          <a:custGeom>
            <a:avLst/>
            <a:gdLst/>
            <a:ahLst/>
            <a:cxnLst/>
            <a:rect l="l" t="t" r="r" b="b"/>
            <a:pathLst>
              <a:path w="4121568" h="4114800">
                <a:moveTo>
                  <a:pt x="0" y="0"/>
                </a:moveTo>
                <a:lnTo>
                  <a:pt x="4121567" y="0"/>
                </a:lnTo>
                <a:lnTo>
                  <a:pt x="41215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000336" y="1760997"/>
            <a:ext cx="10656837" cy="193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39"/>
              </a:lnSpc>
              <a:spcBef>
                <a:spcPct val="0"/>
              </a:spcBef>
            </a:pPr>
            <a:r>
              <a:rPr lang="ro-RO" sz="12099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Concluzii</a:t>
            </a:r>
            <a:endParaRPr lang="en-US" sz="12099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419600" y="4804332"/>
            <a:ext cx="10673910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66"/>
              </a:lnSpc>
            </a:pPr>
            <a:r>
              <a:rPr lang="ro-RO" sz="3027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Prin acest proiect, echipa noastră a implementat un program care analizează recenziile unor texte. Am inclus:</a:t>
            </a:r>
          </a:p>
          <a:p>
            <a:pPr marL="457200" indent="-457200">
              <a:lnSpc>
                <a:spcPts val="3966"/>
              </a:lnSpc>
              <a:buFont typeface="Arial" panose="020B0604020202020204" pitchFamily="34" charset="0"/>
              <a:buChar char="•"/>
            </a:pPr>
            <a:r>
              <a:rPr lang="ro-RO" sz="3027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Încărcarea datelor dintr-un fișier JSON;</a:t>
            </a:r>
          </a:p>
          <a:p>
            <a:pPr marL="457200" indent="-457200">
              <a:lnSpc>
                <a:spcPts val="3966"/>
              </a:lnSpc>
              <a:buFont typeface="Arial" panose="020B0604020202020204" pitchFamily="34" charset="0"/>
              <a:buChar char="•"/>
            </a:pPr>
            <a:r>
              <a:rPr lang="ro-RO" sz="3027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Clasificarea sentimentelor din recenzii;</a:t>
            </a:r>
          </a:p>
          <a:p>
            <a:pPr marL="457200" indent="-457200">
              <a:lnSpc>
                <a:spcPts val="3966"/>
              </a:lnSpc>
              <a:buFont typeface="Arial" panose="020B0604020202020204" pitchFamily="34" charset="0"/>
              <a:buChar char="•"/>
            </a:pPr>
            <a:r>
              <a:rPr lang="ro-RO" sz="3027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Calcularea similarităților între recenzii;</a:t>
            </a:r>
          </a:p>
          <a:p>
            <a:pPr marL="457200" indent="-457200">
              <a:lnSpc>
                <a:spcPts val="3966"/>
              </a:lnSpc>
              <a:buFont typeface="Arial" panose="020B0604020202020204" pitchFamily="34" charset="0"/>
              <a:buChar char="•"/>
            </a:pPr>
            <a:r>
              <a:rPr lang="ro-RO" sz="3027" dirty="0" smtClean="0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Vizualizarea datelor într-un mod intuitiv.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486400" y="3938533"/>
            <a:ext cx="7315200" cy="288178"/>
            <a:chOff x="0" y="0"/>
            <a:chExt cx="9753600" cy="3842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753600" cy="212806"/>
            </a:xfrm>
            <a:custGeom>
              <a:avLst/>
              <a:gdLst/>
              <a:ahLst/>
              <a:cxnLst/>
              <a:rect l="l" t="t" r="r" b="b"/>
              <a:pathLst>
                <a:path w="9753600" h="212806">
                  <a:moveTo>
                    <a:pt x="0" y="0"/>
                  </a:moveTo>
                  <a:lnTo>
                    <a:pt x="9753600" y="0"/>
                  </a:lnTo>
                  <a:lnTo>
                    <a:pt x="9753600" y="212806"/>
                  </a:lnTo>
                  <a:lnTo>
                    <a:pt x="0" y="21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685043" y="212806"/>
              <a:ext cx="7857304" cy="171432"/>
            </a:xfrm>
            <a:custGeom>
              <a:avLst/>
              <a:gdLst/>
              <a:ahLst/>
              <a:cxnLst/>
              <a:rect l="l" t="t" r="r" b="b"/>
              <a:pathLst>
                <a:path w="7857304" h="171432">
                  <a:moveTo>
                    <a:pt x="0" y="0"/>
                  </a:moveTo>
                  <a:lnTo>
                    <a:pt x="7857304" y="0"/>
                  </a:lnTo>
                  <a:lnTo>
                    <a:pt x="7857304" y="171432"/>
                  </a:lnTo>
                  <a:lnTo>
                    <a:pt x="0" y="171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" name="Freeform 23"/>
          <p:cNvSpPr/>
          <p:nvPr/>
        </p:nvSpPr>
        <p:spPr>
          <a:xfrm rot="1424109">
            <a:off x="13193875" y="1635793"/>
            <a:ext cx="1128001" cy="1903069"/>
          </a:xfrm>
          <a:custGeom>
            <a:avLst/>
            <a:gdLst/>
            <a:ahLst/>
            <a:cxnLst/>
            <a:rect l="l" t="t" r="r" b="b"/>
            <a:pathLst>
              <a:path w="1128001" h="1903069">
                <a:moveTo>
                  <a:pt x="0" y="0"/>
                </a:moveTo>
                <a:lnTo>
                  <a:pt x="1128001" y="0"/>
                </a:lnTo>
                <a:lnTo>
                  <a:pt x="1128001" y="1903069"/>
                </a:lnTo>
                <a:lnTo>
                  <a:pt x="0" y="19030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91492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 rot="5976154">
            <a:off x="1971510" y="-2598823"/>
            <a:ext cx="14344983" cy="18219679"/>
          </a:xfrm>
          <a:custGeom>
            <a:avLst/>
            <a:gdLst/>
            <a:ahLst/>
            <a:cxnLst/>
            <a:rect l="l" t="t" r="r" b="b"/>
            <a:pathLst>
              <a:path w="14344983" h="18219679">
                <a:moveTo>
                  <a:pt x="0" y="0"/>
                </a:moveTo>
                <a:lnTo>
                  <a:pt x="14344984" y="0"/>
                </a:lnTo>
                <a:lnTo>
                  <a:pt x="14344984" y="18219678"/>
                </a:lnTo>
                <a:lnTo>
                  <a:pt x="0" y="182196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781505" y="1634476"/>
            <a:ext cx="1389707" cy="1781676"/>
          </a:xfrm>
          <a:custGeom>
            <a:avLst/>
            <a:gdLst/>
            <a:ahLst/>
            <a:cxnLst/>
            <a:rect l="l" t="t" r="r" b="b"/>
            <a:pathLst>
              <a:path w="1389707" h="1781676">
                <a:moveTo>
                  <a:pt x="0" y="0"/>
                </a:moveTo>
                <a:lnTo>
                  <a:pt x="1389707" y="0"/>
                </a:lnTo>
                <a:lnTo>
                  <a:pt x="1389707" y="1781676"/>
                </a:lnTo>
                <a:lnTo>
                  <a:pt x="0" y="17816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757633" y="1976006"/>
            <a:ext cx="7896810" cy="949353"/>
          </a:xfrm>
          <a:custGeom>
            <a:avLst/>
            <a:gdLst/>
            <a:ahLst/>
            <a:cxnLst/>
            <a:rect l="l" t="t" r="r" b="b"/>
            <a:pathLst>
              <a:path w="6299688" h="2519875">
                <a:moveTo>
                  <a:pt x="0" y="0"/>
                </a:moveTo>
                <a:lnTo>
                  <a:pt x="6299688" y="0"/>
                </a:lnTo>
                <a:lnTo>
                  <a:pt x="6299688" y="2519875"/>
                </a:lnTo>
                <a:lnTo>
                  <a:pt x="0" y="25198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995806" y="750242"/>
            <a:ext cx="5420464" cy="2564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022"/>
              </a:lnSpc>
              <a:spcBef>
                <a:spcPct val="0"/>
              </a:spcBef>
            </a:pPr>
            <a:r>
              <a:rPr lang="ro-RO" sz="4400" spc="314" dirty="0" smtClean="0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GANNT CHART</a:t>
            </a:r>
            <a:endParaRPr lang="en-US" sz="4400" spc="314" dirty="0">
              <a:solidFill>
                <a:srgbClr val="000000"/>
              </a:solidFill>
              <a:latin typeface="Ballpoint"/>
              <a:ea typeface="Ballpoint"/>
              <a:cs typeface="Ballpoint"/>
              <a:sym typeface="Ballpoint"/>
            </a:endParaRPr>
          </a:p>
        </p:txBody>
      </p:sp>
      <p:sp>
        <p:nvSpPr>
          <p:cNvPr id="25" name="Freeform 25"/>
          <p:cNvSpPr/>
          <p:nvPr/>
        </p:nvSpPr>
        <p:spPr>
          <a:xfrm rot="740594">
            <a:off x="15309024" y="1762421"/>
            <a:ext cx="1389707" cy="1781676"/>
          </a:xfrm>
          <a:custGeom>
            <a:avLst/>
            <a:gdLst/>
            <a:ahLst/>
            <a:cxnLst/>
            <a:rect l="l" t="t" r="r" b="b"/>
            <a:pathLst>
              <a:path w="1389707" h="1781676">
                <a:moveTo>
                  <a:pt x="0" y="0"/>
                </a:moveTo>
                <a:lnTo>
                  <a:pt x="1389707" y="0"/>
                </a:lnTo>
                <a:lnTo>
                  <a:pt x="1389707" y="1781676"/>
                </a:lnTo>
                <a:lnTo>
                  <a:pt x="0" y="17816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511153"/>
              </p:ext>
            </p:extLst>
          </p:nvPr>
        </p:nvGraphicFramePr>
        <p:xfrm>
          <a:off x="2721330" y="3672043"/>
          <a:ext cx="13287990" cy="5330825"/>
        </p:xfrm>
        <a:graphic>
          <a:graphicData uri="http://schemas.openxmlformats.org/drawingml/2006/table">
            <a:tbl>
              <a:tblPr/>
              <a:tblGrid>
                <a:gridCol w="2527324">
                  <a:extLst>
                    <a:ext uri="{9D8B030D-6E8A-4147-A177-3AD203B41FA5}">
                      <a16:colId xmlns:a16="http://schemas.microsoft.com/office/drawing/2014/main" val="2731365284"/>
                    </a:ext>
                  </a:extLst>
                </a:gridCol>
                <a:gridCol w="1537238">
                  <a:extLst>
                    <a:ext uri="{9D8B030D-6E8A-4147-A177-3AD203B41FA5}">
                      <a16:colId xmlns:a16="http://schemas.microsoft.com/office/drawing/2014/main" val="3768520313"/>
                    </a:ext>
                  </a:extLst>
                </a:gridCol>
                <a:gridCol w="1537238">
                  <a:extLst>
                    <a:ext uri="{9D8B030D-6E8A-4147-A177-3AD203B41FA5}">
                      <a16:colId xmlns:a16="http://schemas.microsoft.com/office/drawing/2014/main" val="4051598340"/>
                    </a:ext>
                  </a:extLst>
                </a:gridCol>
                <a:gridCol w="1537238">
                  <a:extLst>
                    <a:ext uri="{9D8B030D-6E8A-4147-A177-3AD203B41FA5}">
                      <a16:colId xmlns:a16="http://schemas.microsoft.com/office/drawing/2014/main" val="3248675946"/>
                    </a:ext>
                  </a:extLst>
                </a:gridCol>
                <a:gridCol w="1537238">
                  <a:extLst>
                    <a:ext uri="{9D8B030D-6E8A-4147-A177-3AD203B41FA5}">
                      <a16:colId xmlns:a16="http://schemas.microsoft.com/office/drawing/2014/main" val="514366113"/>
                    </a:ext>
                  </a:extLst>
                </a:gridCol>
                <a:gridCol w="1537238">
                  <a:extLst>
                    <a:ext uri="{9D8B030D-6E8A-4147-A177-3AD203B41FA5}">
                      <a16:colId xmlns:a16="http://schemas.microsoft.com/office/drawing/2014/main" val="723924573"/>
                    </a:ext>
                  </a:extLst>
                </a:gridCol>
                <a:gridCol w="1537238">
                  <a:extLst>
                    <a:ext uri="{9D8B030D-6E8A-4147-A177-3AD203B41FA5}">
                      <a16:colId xmlns:a16="http://schemas.microsoft.com/office/drawing/2014/main" val="3217427231"/>
                    </a:ext>
                  </a:extLst>
                </a:gridCol>
                <a:gridCol w="1537238">
                  <a:extLst>
                    <a:ext uri="{9D8B030D-6E8A-4147-A177-3AD203B41FA5}">
                      <a16:colId xmlns:a16="http://schemas.microsoft.com/office/drawing/2014/main" val="990995282"/>
                    </a:ext>
                  </a:extLst>
                </a:gridCol>
              </a:tblGrid>
              <a:tr h="683319"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24.10.2024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05.11.2024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19.11.2024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11.01.2025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12.01.2024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13.01.2024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14.01.2025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0824034"/>
                  </a:ext>
                </a:extLst>
              </a:tr>
              <a:tr h="688281">
                <a:tc>
                  <a:txBody>
                    <a:bodyPr/>
                    <a:lstStyle/>
                    <a:p>
                      <a:pPr algn="ctr" fontAlgn="ctr"/>
                      <a:r>
                        <a:rPr lang="ro-R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548235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990736"/>
                  </a:ext>
                </a:extLst>
              </a:tr>
              <a:tr h="679351">
                <a:tc>
                  <a:txBody>
                    <a:bodyPr/>
                    <a:lstStyle/>
                    <a:p>
                      <a:pPr algn="ctr" fontAlgn="ctr"/>
                      <a:r>
                        <a:rPr lang="ro-R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 Point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548235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0949913"/>
                  </a:ext>
                </a:extLst>
              </a:tr>
              <a:tr h="670421">
                <a:tc>
                  <a:txBody>
                    <a:bodyPr/>
                    <a:lstStyle/>
                    <a:p>
                      <a:pPr algn="ctr" fontAlgn="ctr"/>
                      <a:r>
                        <a:rPr lang="ro-R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JSON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7273812"/>
                  </a:ext>
                </a:extLst>
              </a:tr>
              <a:tr h="737691">
                <a:tc>
                  <a:txBody>
                    <a:bodyPr/>
                    <a:lstStyle/>
                    <a:p>
                      <a:pPr algn="ctr" fontAlgn="ctr"/>
                      <a:r>
                        <a:rPr lang="ro-R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Python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2138161"/>
                  </a:ext>
                </a:extLst>
              </a:tr>
              <a:tr h="846585">
                <a:tc>
                  <a:txBody>
                    <a:bodyPr/>
                    <a:lstStyle/>
                    <a:p>
                      <a:pPr algn="ctr" fontAlgn="ctr"/>
                      <a:r>
                        <a:rPr lang="ro-R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Documentație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7188756"/>
                  </a:ext>
                </a:extLst>
              </a:tr>
              <a:tr h="1025177">
                <a:tc>
                  <a:txBody>
                    <a:bodyPr/>
                    <a:lstStyle/>
                    <a:p>
                      <a:pPr algn="ctr" fontAlgn="ctr"/>
                      <a:r>
                        <a:rPr lang="ro-R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Încărcare pe GitHub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572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977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 rot="-445901">
            <a:off x="4543609" y="771352"/>
            <a:ext cx="9200782" cy="9173996"/>
          </a:xfrm>
          <a:custGeom>
            <a:avLst/>
            <a:gdLst/>
            <a:ahLst/>
            <a:cxnLst/>
            <a:rect l="l" t="t" r="r" b="b"/>
            <a:pathLst>
              <a:path w="9200782" h="9173996">
                <a:moveTo>
                  <a:pt x="0" y="0"/>
                </a:moveTo>
                <a:lnTo>
                  <a:pt x="9200782" y="0"/>
                </a:lnTo>
                <a:lnTo>
                  <a:pt x="9200782" y="9173996"/>
                </a:lnTo>
                <a:lnTo>
                  <a:pt x="0" y="91739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 rot="171973">
            <a:off x="5583091" y="2920390"/>
            <a:ext cx="7156588" cy="346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68"/>
              </a:lnSpc>
              <a:spcBef>
                <a:spcPct val="0"/>
              </a:spcBef>
            </a:pPr>
            <a:r>
              <a:rPr lang="en-US" sz="18192" spc="418">
                <a:solidFill>
                  <a:srgbClr val="000000"/>
                </a:solidFill>
                <a:latin typeface="Ballpoint"/>
                <a:ea typeface="Ballpoint"/>
                <a:cs typeface="Ballpoint"/>
                <a:sym typeface="Ballpoint"/>
              </a:rPr>
              <a:t>Thanks!</a:t>
            </a:r>
          </a:p>
        </p:txBody>
      </p:sp>
      <p:sp>
        <p:nvSpPr>
          <p:cNvPr id="5" name="TextBox 5"/>
          <p:cNvSpPr txBox="1"/>
          <p:nvPr/>
        </p:nvSpPr>
        <p:spPr>
          <a:xfrm rot="171973">
            <a:off x="6310712" y="5687443"/>
            <a:ext cx="5562409" cy="241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2"/>
              </a:lnSpc>
              <a:spcBef>
                <a:spcPct val="0"/>
              </a:spcBef>
            </a:pPr>
            <a:r>
              <a:rPr lang="ro-RO" sz="3373" dirty="0" smtClean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Template: </a:t>
            </a:r>
            <a:r>
              <a:rPr lang="ro-RO" sz="3373" dirty="0" smtClean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  <a:hlinkClick r:id="rId4"/>
              </a:rPr>
              <a:t>www.canva.com</a:t>
            </a:r>
            <a:endParaRPr lang="ro-RO" sz="3373" dirty="0">
              <a:solidFill>
                <a:srgbClr val="000000"/>
              </a:solidFill>
              <a:latin typeface="Childos Arabic"/>
              <a:ea typeface="Childos Arabic"/>
              <a:cs typeface="Childos Arabic"/>
              <a:sym typeface="Childos Arabic"/>
            </a:endParaRPr>
          </a:p>
          <a:p>
            <a:pPr algn="ctr">
              <a:lnSpc>
                <a:spcPts val="4722"/>
              </a:lnSpc>
              <a:spcBef>
                <a:spcPct val="0"/>
              </a:spcBef>
            </a:pPr>
            <a:r>
              <a:rPr lang="ro-RO" sz="3373" dirty="0" smtClean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Poze:   </a:t>
            </a:r>
            <a:r>
              <a:rPr lang="ro-RO" sz="3373" dirty="0" smtClean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  <a:hlinkClick r:id="rId5"/>
              </a:rPr>
              <a:t>www.noobz.ro</a:t>
            </a:r>
            <a:endParaRPr lang="ro-RO" sz="3373" dirty="0" smtClean="0">
              <a:solidFill>
                <a:srgbClr val="000000"/>
              </a:solidFill>
              <a:latin typeface="Childos Arabic"/>
              <a:ea typeface="Childos Arabic"/>
              <a:cs typeface="Childos Arabic"/>
              <a:sym typeface="Childos Arabic"/>
            </a:endParaRPr>
          </a:p>
          <a:p>
            <a:pPr algn="ctr">
              <a:lnSpc>
                <a:spcPts val="4722"/>
              </a:lnSpc>
              <a:spcBef>
                <a:spcPct val="0"/>
              </a:spcBef>
            </a:pPr>
            <a:r>
              <a:rPr lang="ro-RO" sz="3373" dirty="0" smtClean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  <a:hlinkClick r:id="rId6"/>
              </a:rPr>
              <a:t>www.blog.robofun.ro</a:t>
            </a:r>
            <a:endParaRPr lang="ro-RO" sz="3373" dirty="0" smtClean="0">
              <a:solidFill>
                <a:srgbClr val="000000"/>
              </a:solidFill>
              <a:latin typeface="Childos Arabic"/>
              <a:ea typeface="Childos Arabic"/>
              <a:cs typeface="Childos Arabic"/>
              <a:sym typeface="Childos Arabic"/>
            </a:endParaRPr>
          </a:p>
          <a:p>
            <a:pPr algn="ctr">
              <a:lnSpc>
                <a:spcPts val="4722"/>
              </a:lnSpc>
              <a:spcBef>
                <a:spcPct val="0"/>
              </a:spcBef>
            </a:pPr>
            <a:endParaRPr lang="en-US" sz="3373" dirty="0">
              <a:solidFill>
                <a:srgbClr val="000000"/>
              </a:solidFill>
              <a:latin typeface="Childos Arabic"/>
              <a:ea typeface="Childos Arabic"/>
              <a:cs typeface="Childos Arabic"/>
              <a:sym typeface="Childos Arabic"/>
            </a:endParaRPr>
          </a:p>
        </p:txBody>
      </p:sp>
      <p:sp>
        <p:nvSpPr>
          <p:cNvPr id="6" name="Freeform 6"/>
          <p:cNvSpPr/>
          <p:nvPr/>
        </p:nvSpPr>
        <p:spPr>
          <a:xfrm rot="137152">
            <a:off x="3720539" y="6812287"/>
            <a:ext cx="2829761" cy="2686683"/>
          </a:xfrm>
          <a:custGeom>
            <a:avLst/>
            <a:gdLst/>
            <a:ahLst/>
            <a:cxnLst/>
            <a:rect l="l" t="t" r="r" b="b"/>
            <a:pathLst>
              <a:path w="2829761" h="2686683">
                <a:moveTo>
                  <a:pt x="0" y="0"/>
                </a:moveTo>
                <a:lnTo>
                  <a:pt x="2829761" y="0"/>
                </a:lnTo>
                <a:lnTo>
                  <a:pt x="2829761" y="2686682"/>
                </a:lnTo>
                <a:lnTo>
                  <a:pt x="0" y="26866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71662">
            <a:off x="4402112" y="7257625"/>
            <a:ext cx="1466614" cy="1402617"/>
          </a:xfrm>
          <a:custGeom>
            <a:avLst/>
            <a:gdLst/>
            <a:ahLst/>
            <a:cxnLst/>
            <a:rect l="l" t="t" r="r" b="b"/>
            <a:pathLst>
              <a:path w="1466614" h="1402617">
                <a:moveTo>
                  <a:pt x="0" y="0"/>
                </a:moveTo>
                <a:lnTo>
                  <a:pt x="1466614" y="0"/>
                </a:lnTo>
                <a:lnTo>
                  <a:pt x="1466614" y="1402617"/>
                </a:lnTo>
                <a:lnTo>
                  <a:pt x="0" y="14026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9331506" flipH="1">
            <a:off x="850899" y="2591255"/>
            <a:ext cx="5634372" cy="2540590"/>
          </a:xfrm>
          <a:custGeom>
            <a:avLst/>
            <a:gdLst/>
            <a:ahLst/>
            <a:cxnLst/>
            <a:rect l="l" t="t" r="r" b="b"/>
            <a:pathLst>
              <a:path w="5634372" h="2540590">
                <a:moveTo>
                  <a:pt x="5634372" y="0"/>
                </a:moveTo>
                <a:lnTo>
                  <a:pt x="0" y="0"/>
                </a:lnTo>
                <a:lnTo>
                  <a:pt x="0" y="2540590"/>
                </a:lnTo>
                <a:lnTo>
                  <a:pt x="5634372" y="2540590"/>
                </a:lnTo>
                <a:lnTo>
                  <a:pt x="563437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979119" y="3968022"/>
            <a:ext cx="1221857" cy="2061415"/>
          </a:xfrm>
          <a:custGeom>
            <a:avLst/>
            <a:gdLst/>
            <a:ahLst/>
            <a:cxnLst/>
            <a:rect l="l" t="t" r="r" b="b"/>
            <a:pathLst>
              <a:path w="1221857" h="2061415">
                <a:moveTo>
                  <a:pt x="0" y="0"/>
                </a:moveTo>
                <a:lnTo>
                  <a:pt x="1221857" y="0"/>
                </a:lnTo>
                <a:lnTo>
                  <a:pt x="1221857" y="2061415"/>
                </a:lnTo>
                <a:lnTo>
                  <a:pt x="0" y="2061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299048" y="6029437"/>
            <a:ext cx="964181" cy="1626686"/>
          </a:xfrm>
          <a:custGeom>
            <a:avLst/>
            <a:gdLst/>
            <a:ahLst/>
            <a:cxnLst/>
            <a:rect l="l" t="t" r="r" b="b"/>
            <a:pathLst>
              <a:path w="964181" h="1626686">
                <a:moveTo>
                  <a:pt x="0" y="0"/>
                </a:moveTo>
                <a:lnTo>
                  <a:pt x="964181" y="0"/>
                </a:lnTo>
                <a:lnTo>
                  <a:pt x="964181" y="1626686"/>
                </a:lnTo>
                <a:lnTo>
                  <a:pt x="0" y="16266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526</Words>
  <Application>Microsoft Office PowerPoint</Application>
  <PresentationFormat>Custom</PresentationFormat>
  <Paragraphs>170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 Day Without Sun Text Bold</vt:lpstr>
      <vt:lpstr>Ballpoint</vt:lpstr>
      <vt:lpstr>Dekko</vt:lpstr>
      <vt:lpstr>Arial</vt:lpstr>
      <vt:lpstr>Courier New</vt:lpstr>
      <vt:lpstr>Itim</vt:lpstr>
      <vt:lpstr>Childos Arabic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Yellow Scrapbook Brainstorm Presentation</dc:title>
  <dc:creator>Livia</dc:creator>
  <cp:lastModifiedBy>Livia</cp:lastModifiedBy>
  <cp:revision>53</cp:revision>
  <dcterms:created xsi:type="dcterms:W3CDTF">2006-08-16T00:00:00Z</dcterms:created>
  <dcterms:modified xsi:type="dcterms:W3CDTF">2025-01-14T13:33:04Z</dcterms:modified>
  <dc:identifier>DAGVosxI8zQ</dc:identifier>
</cp:coreProperties>
</file>